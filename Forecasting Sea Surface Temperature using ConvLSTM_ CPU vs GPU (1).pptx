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Montserrat"/>
      <p:regular r:id="rId36"/>
      <p:bold r:id="rId37"/>
      <p:italic r:id="rId38"/>
      <p:boldItalic r:id="rId39"/>
    </p:embeddedFont>
    <p:embeddedFont>
      <p:font typeface="Lato"/>
      <p:regular r:id="rId40"/>
      <p:bold r:id="rId41"/>
      <p:italic r:id="rId42"/>
      <p:boldItalic r:id="rId43"/>
    </p:embeddedFont>
    <p:embeddedFont>
      <p:font typeface="Roboto Mon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3FFFFF-44FA-4FFD-9679-BF9448AB7191}">
  <a:tblStyle styleId="{4A3FFFFF-44FA-4FFD-9679-BF9448AB719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4.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6.xml"/><Relationship Id="rId44" Type="http://schemas.openxmlformats.org/officeDocument/2006/relationships/font" Target="fonts/RobotoMono-regular.fntdata"/><Relationship Id="rId21" Type="http://schemas.openxmlformats.org/officeDocument/2006/relationships/slide" Target="slides/slide15.xml"/><Relationship Id="rId43" Type="http://schemas.openxmlformats.org/officeDocument/2006/relationships/font" Target="fonts/Lato-boldItalic.fntdata"/><Relationship Id="rId24" Type="http://schemas.openxmlformats.org/officeDocument/2006/relationships/slide" Target="slides/slide18.xml"/><Relationship Id="rId46" Type="http://schemas.openxmlformats.org/officeDocument/2006/relationships/font" Target="fonts/RobotoMono-italic.fntdata"/><Relationship Id="rId23" Type="http://schemas.openxmlformats.org/officeDocument/2006/relationships/slide" Target="slides/slide17.xml"/><Relationship Id="rId45"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RobotoMono-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bold.fntdata"/><Relationship Id="rId14" Type="http://schemas.openxmlformats.org/officeDocument/2006/relationships/slide" Target="slides/slide8.xml"/><Relationship Id="rId36" Type="http://schemas.openxmlformats.org/officeDocument/2006/relationships/font" Target="fonts/Montserrat-regular.fntdata"/><Relationship Id="rId17" Type="http://schemas.openxmlformats.org/officeDocument/2006/relationships/slide" Target="slides/slide11.xml"/><Relationship Id="rId39" Type="http://schemas.openxmlformats.org/officeDocument/2006/relationships/font" Target="fonts/Montserrat-boldItalic.fntdata"/><Relationship Id="rId16" Type="http://schemas.openxmlformats.org/officeDocument/2006/relationships/slide" Target="slides/slide10.xml"/><Relationship Id="rId38" Type="http://schemas.openxmlformats.org/officeDocument/2006/relationships/font" Target="fonts/Montserra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d994ffdfc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d994ffdfc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f937a615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f937a615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db13128c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8db13128c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f937a615e_0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f937a615e_0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dc720e7b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dc720e7b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db13128c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8db13128c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f937a615e_0_9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f937a615e_0_9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dc720e7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8dc720e7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f937a615e_1_1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9f937a615e_1_1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dc720e7b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8dc720e7b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f937a615e_1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9f937a615e_1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f937a615e_1_1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9f937a615e_1_1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fa7a304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fa7a304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9f937a615e_1_1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9f937a615e_1_1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fa7a304d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fa7a304d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f937a615e_1_1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f937a615e_1_1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9fa7a304d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9fa7a304d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0d0ffab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0d0ffab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8dc720e7b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8dc720e7b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8d994ffdfc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8d994ffdfc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f937a615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9f937a615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a0d0ffab3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a0d0ffab3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f937a615e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9f937a615e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f937a615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9f937a615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9f937a615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9f937a615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8db13128c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8db13128c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9f937a615e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9f937a615e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db13128c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8db13128c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22300" y="549700"/>
            <a:ext cx="5621700" cy="234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2700"/>
              <a:t>Forecasting Sea Surface Temperature using ConvLSTM: CPU vs GPU</a:t>
            </a:r>
            <a:endParaRPr sz="2700"/>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Yeshwanth Nanda - RA2211003011973</a:t>
            </a:r>
            <a:endParaRPr/>
          </a:p>
          <a:p>
            <a:pPr indent="0" lvl="0" marL="0" rtl="0" algn="l">
              <a:spcBef>
                <a:spcPts val="0"/>
              </a:spcBef>
              <a:spcAft>
                <a:spcPts val="0"/>
              </a:spcAft>
              <a:buNone/>
            </a:pPr>
            <a:r>
              <a:rPr lang="en-GB"/>
              <a:t>Jayashree Manigandan - RA2211003012017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INTRODUCTION</a:t>
            </a:r>
            <a:endParaRPr/>
          </a:p>
        </p:txBody>
      </p:sp>
      <p:sp>
        <p:nvSpPr>
          <p:cNvPr id="141" name="Google Shape;141;p14"/>
          <p:cNvSpPr txBox="1"/>
          <p:nvPr>
            <p:ph idx="1" type="body"/>
          </p:nvPr>
        </p:nvSpPr>
        <p:spPr>
          <a:xfrm>
            <a:off x="1297500" y="1567550"/>
            <a:ext cx="7464900" cy="3258900"/>
          </a:xfrm>
          <a:prstGeom prst="rect">
            <a:avLst/>
          </a:prstGeom>
        </p:spPr>
        <p:txBody>
          <a:bodyPr anchorCtr="0" anchor="t" bIns="91425" lIns="91425" spcFirstLastPara="1" rIns="91425" wrap="square" tIns="91425">
            <a:normAutofit fontScale="47500" lnSpcReduction="10000"/>
          </a:bodyPr>
          <a:lstStyle/>
          <a:p>
            <a:pPr indent="0" lvl="0" marL="0" rtl="0" algn="just">
              <a:spcBef>
                <a:spcPts val="1200"/>
              </a:spcBef>
              <a:spcAft>
                <a:spcPts val="0"/>
              </a:spcAft>
              <a:buNone/>
            </a:pPr>
            <a:r>
              <a:rPr lang="en-GB" sz="2700"/>
              <a:t>Sea Surface Temperature (SST) is one of the most critical parameters in understanding global climate systems, ocean dynamics, and marine ecosystem health. Variations in SST strongly influence atmospheric circulation, monsoon activity, and biodiversity, making accurate forecasting essential for climate modeling, disaster preparedness, and fisheries management. Traditional forecasting methods rely on physics-based ocean models, which simulate thermodynamic and dynamic processes of the ocean–atmosphere system. Although effective, these models demand enormous computational power and are often limited by slow processing speeds, making them unsuitable for real-time applications. With the growing availability of open-source marine datasets, such as those provided by the Copernicus Marine Environment Monitoring Service (CMEMS), there is a clear opportunity to develop faster, data-driven forecasting methods using machine learning. These approaches can learn complex oceanic patterns directly from data, providing accurate forecasts at a fraction of the computational cost.</a:t>
            </a:r>
            <a:endParaRPr sz="2700"/>
          </a:p>
          <a:p>
            <a:pPr indent="0" lvl="0" marL="457200" rtl="0" algn="just">
              <a:spcBef>
                <a:spcPts val="1200"/>
              </a:spcBef>
              <a:spcAft>
                <a:spcPts val="0"/>
              </a:spcAft>
              <a:buNone/>
            </a:pPr>
            <a:r>
              <a:t/>
            </a:r>
            <a:endParaRPr/>
          </a:p>
          <a:p>
            <a:pPr indent="0" lvl="0" marL="0" rtl="0" algn="just">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64575"/>
            <a:ext cx="6765000" cy="47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460"/>
              <a:t>INTRODUCTION</a:t>
            </a:r>
            <a:endParaRPr sz="1794"/>
          </a:p>
        </p:txBody>
      </p:sp>
      <p:sp>
        <p:nvSpPr>
          <p:cNvPr id="147" name="Google Shape;147;p15"/>
          <p:cNvSpPr txBox="1"/>
          <p:nvPr>
            <p:ph idx="1" type="body"/>
          </p:nvPr>
        </p:nvSpPr>
        <p:spPr>
          <a:xfrm>
            <a:off x="1297500" y="1141475"/>
            <a:ext cx="6881700" cy="3218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GB" sz="6317">
                <a:latin typeface="Arial"/>
                <a:ea typeface="Arial"/>
                <a:cs typeface="Arial"/>
                <a:sym typeface="Arial"/>
              </a:rPr>
              <a:t>Background, Motivation &amp; Problem Statement</a:t>
            </a:r>
            <a:endParaRPr sz="6317">
              <a:latin typeface="Arial"/>
              <a:ea typeface="Arial"/>
              <a:cs typeface="Arial"/>
              <a:sym typeface="Arial"/>
            </a:endParaRPr>
          </a:p>
          <a:p>
            <a:pPr indent="0" lvl="0" marL="0" rtl="0" algn="l">
              <a:spcBef>
                <a:spcPts val="1200"/>
              </a:spcBef>
              <a:spcAft>
                <a:spcPts val="0"/>
              </a:spcAft>
              <a:buNone/>
            </a:pPr>
            <a:r>
              <a:t/>
            </a:r>
            <a:endParaRPr sz="6317">
              <a:latin typeface="Arial"/>
              <a:ea typeface="Arial"/>
              <a:cs typeface="Arial"/>
              <a:sym typeface="Arial"/>
            </a:endParaRPr>
          </a:p>
          <a:p>
            <a:pPr indent="-303494" lvl="0" marL="457200" rtl="0" algn="l">
              <a:spcBef>
                <a:spcPts val="1200"/>
              </a:spcBef>
              <a:spcAft>
                <a:spcPts val="0"/>
              </a:spcAft>
              <a:buSzPct val="100000"/>
              <a:buFont typeface="Arial"/>
              <a:buChar char="●"/>
            </a:pPr>
            <a:r>
              <a:rPr lang="en-GB" sz="4717">
                <a:latin typeface="Arial"/>
                <a:ea typeface="Arial"/>
                <a:cs typeface="Arial"/>
                <a:sym typeface="Arial"/>
              </a:rPr>
              <a:t>Deep learning models, such as LSTM and CNN, have shown potential in predicting temporal and spatial trends in environmental data. However, they are computationally demanding, especially when working with large 2D spatial maps.</a:t>
            </a:r>
            <a:br>
              <a:rPr lang="en-GB" sz="4717">
                <a:latin typeface="Arial"/>
                <a:ea typeface="Arial"/>
                <a:cs typeface="Arial"/>
                <a:sym typeface="Arial"/>
              </a:rPr>
            </a:br>
            <a:endParaRPr sz="4717">
              <a:latin typeface="Arial"/>
              <a:ea typeface="Arial"/>
              <a:cs typeface="Arial"/>
              <a:sym typeface="Arial"/>
            </a:endParaRPr>
          </a:p>
          <a:p>
            <a:pPr indent="-303494" lvl="0" marL="457200" rtl="0" algn="l">
              <a:spcBef>
                <a:spcPts val="0"/>
              </a:spcBef>
              <a:spcAft>
                <a:spcPts val="0"/>
              </a:spcAft>
              <a:buSzPct val="100000"/>
              <a:buFont typeface="Arial"/>
              <a:buChar char="●"/>
            </a:pPr>
            <a:r>
              <a:rPr lang="en-GB" sz="4717">
                <a:latin typeface="Arial"/>
                <a:ea typeface="Arial"/>
                <a:cs typeface="Arial"/>
                <a:sym typeface="Arial"/>
              </a:rPr>
              <a:t>ConvLSTM (Convolutional Long Short-Term Memory) networks can capture both spatial and temporal relationships in SST data, making them ideal for marine forecasting tasks.</a:t>
            </a:r>
            <a:br>
              <a:rPr lang="en-GB" sz="4717">
                <a:latin typeface="Arial"/>
                <a:ea typeface="Arial"/>
                <a:cs typeface="Arial"/>
                <a:sym typeface="Arial"/>
              </a:rPr>
            </a:br>
            <a:endParaRPr sz="4717">
              <a:latin typeface="Arial"/>
              <a:ea typeface="Arial"/>
              <a:cs typeface="Arial"/>
              <a:sym typeface="Arial"/>
            </a:endParaRPr>
          </a:p>
          <a:p>
            <a:pPr indent="-303494" lvl="0" marL="457200" rtl="0" algn="l">
              <a:spcBef>
                <a:spcPts val="0"/>
              </a:spcBef>
              <a:spcAft>
                <a:spcPts val="0"/>
              </a:spcAft>
              <a:buSzPct val="100000"/>
              <a:buFont typeface="Arial"/>
              <a:buChar char="●"/>
            </a:pPr>
            <a:r>
              <a:rPr lang="en-GB" sz="4717">
                <a:latin typeface="Arial"/>
                <a:ea typeface="Arial"/>
                <a:cs typeface="Arial"/>
                <a:sym typeface="Arial"/>
              </a:rPr>
              <a:t>The project implements GPU acceleration using </a:t>
            </a:r>
            <a:r>
              <a:rPr b="1" lang="en-GB" sz="4717">
                <a:latin typeface="Arial"/>
                <a:ea typeface="Arial"/>
                <a:cs typeface="Arial"/>
                <a:sym typeface="Arial"/>
              </a:rPr>
              <a:t>CUDA</a:t>
            </a:r>
            <a:r>
              <a:rPr lang="en-GB" sz="4717">
                <a:latin typeface="Arial"/>
                <a:ea typeface="Arial"/>
                <a:cs typeface="Arial"/>
                <a:sym typeface="Arial"/>
              </a:rPr>
              <a:t>, </a:t>
            </a:r>
            <a:r>
              <a:rPr b="1" lang="en-GB" sz="4717">
                <a:latin typeface="Arial"/>
                <a:ea typeface="Arial"/>
                <a:cs typeface="Arial"/>
                <a:sym typeface="Arial"/>
              </a:rPr>
              <a:t>cuDNN</a:t>
            </a:r>
            <a:r>
              <a:rPr lang="en-GB" sz="4717">
                <a:latin typeface="Arial"/>
                <a:ea typeface="Arial"/>
                <a:cs typeface="Arial"/>
                <a:sym typeface="Arial"/>
              </a:rPr>
              <a:t>, and </a:t>
            </a:r>
            <a:r>
              <a:rPr b="1" lang="en-GB" sz="4717">
                <a:latin typeface="Arial"/>
                <a:ea typeface="Arial"/>
                <a:cs typeface="Arial"/>
                <a:sym typeface="Arial"/>
              </a:rPr>
              <a:t>Automatic Mixed Precision (AMP)</a:t>
            </a:r>
            <a:r>
              <a:rPr lang="en-GB" sz="4717">
                <a:latin typeface="Arial"/>
                <a:ea typeface="Arial"/>
                <a:cs typeface="Arial"/>
                <a:sym typeface="Arial"/>
              </a:rPr>
              <a:t> to demonstrate that SST forecasting can be significantly accelerated without compromising accuracy.</a:t>
            </a:r>
            <a:br>
              <a:rPr lang="en-GB" sz="4717">
                <a:latin typeface="Arial"/>
                <a:ea typeface="Arial"/>
                <a:cs typeface="Arial"/>
                <a:sym typeface="Arial"/>
              </a:rPr>
            </a:br>
            <a:endParaRPr sz="4717">
              <a:latin typeface="Arial"/>
              <a:ea typeface="Arial"/>
              <a:cs typeface="Arial"/>
              <a:sym typeface="Arial"/>
            </a:endParaRPr>
          </a:p>
          <a:p>
            <a:pPr indent="-303494" lvl="0" marL="457200" rtl="0" algn="l">
              <a:spcBef>
                <a:spcPts val="0"/>
              </a:spcBef>
              <a:spcAft>
                <a:spcPts val="0"/>
              </a:spcAft>
              <a:buSzPct val="100000"/>
              <a:buFont typeface="Arial"/>
              <a:buChar char="●"/>
            </a:pPr>
            <a:r>
              <a:rPr lang="en-GB" sz="4717">
                <a:latin typeface="Arial"/>
                <a:ea typeface="Arial"/>
                <a:cs typeface="Arial"/>
                <a:sym typeface="Arial"/>
              </a:rPr>
              <a:t>The motivation is to make ocean forecasting more efficient, scalable, and accessible using modern GPU-based computation.</a:t>
            </a:r>
            <a:endParaRPr sz="4717">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17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OBJECTIVES</a:t>
            </a:r>
            <a:endParaRPr/>
          </a:p>
        </p:txBody>
      </p:sp>
      <p:pic>
        <p:nvPicPr>
          <p:cNvPr id="153" name="Google Shape;153;p16"/>
          <p:cNvPicPr preferRelativeResize="0"/>
          <p:nvPr/>
        </p:nvPicPr>
        <p:blipFill rotWithShape="1">
          <a:blip r:embed="rId3">
            <a:alphaModFix/>
          </a:blip>
          <a:srcRect b="0" l="0" r="0" t="16895"/>
          <a:stretch/>
        </p:blipFill>
        <p:spPr>
          <a:xfrm>
            <a:off x="1108925" y="920425"/>
            <a:ext cx="7127976" cy="3922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OBJECTIVES</a:t>
            </a:r>
            <a:endParaRPr/>
          </a:p>
        </p:txBody>
      </p:sp>
      <p:sp>
        <p:nvSpPr>
          <p:cNvPr id="159" name="Google Shape;159;p17"/>
          <p:cNvSpPr txBox="1"/>
          <p:nvPr>
            <p:ph idx="1" type="body"/>
          </p:nvPr>
        </p:nvSpPr>
        <p:spPr>
          <a:xfrm>
            <a:off x="1297500" y="1149450"/>
            <a:ext cx="7038900" cy="3356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sz="1500"/>
              <a:t>Specific Objectives / Research Questions</a:t>
            </a:r>
            <a:endParaRPr sz="1500"/>
          </a:p>
          <a:p>
            <a:pPr indent="-314050" lvl="0" marL="457200" rtl="0" algn="l">
              <a:spcBef>
                <a:spcPts val="1200"/>
              </a:spcBef>
              <a:spcAft>
                <a:spcPts val="0"/>
              </a:spcAft>
              <a:buClr>
                <a:schemeClr val="lt1"/>
              </a:buClr>
              <a:buSzPct val="100000"/>
              <a:buFont typeface="Arial"/>
              <a:buChar char="●"/>
            </a:pPr>
            <a:r>
              <a:rPr lang="en-GB" sz="1454">
                <a:latin typeface="Arial"/>
                <a:ea typeface="Arial"/>
                <a:cs typeface="Arial"/>
                <a:sym typeface="Arial"/>
              </a:rPr>
              <a:t>To preprocess SST data from Copernicus Marine datasets into structured temporal sequences suitable for ConvLSTM training.</a:t>
            </a:r>
            <a:br>
              <a:rPr lang="en-GB" sz="1454">
                <a:latin typeface="Arial"/>
                <a:ea typeface="Arial"/>
                <a:cs typeface="Arial"/>
                <a:sym typeface="Arial"/>
              </a:rPr>
            </a:br>
            <a:endParaRPr sz="1454">
              <a:latin typeface="Arial"/>
              <a:ea typeface="Arial"/>
              <a:cs typeface="Arial"/>
              <a:sym typeface="Arial"/>
            </a:endParaRPr>
          </a:p>
          <a:p>
            <a:pPr indent="-314050" lvl="0" marL="457200" rtl="0" algn="l">
              <a:spcBef>
                <a:spcPts val="0"/>
              </a:spcBef>
              <a:spcAft>
                <a:spcPts val="0"/>
              </a:spcAft>
              <a:buClr>
                <a:schemeClr val="lt1"/>
              </a:buClr>
              <a:buSzPct val="100000"/>
              <a:buFont typeface="Arial"/>
              <a:buChar char="●"/>
            </a:pPr>
            <a:r>
              <a:rPr lang="en-GB" sz="1454">
                <a:latin typeface="Arial"/>
                <a:ea typeface="Arial"/>
                <a:cs typeface="Arial"/>
                <a:sym typeface="Arial"/>
              </a:rPr>
              <a:t>To train and evaluate the ConvLSTM model on both CPU and GPU hardware using identical configurations.</a:t>
            </a:r>
            <a:br>
              <a:rPr lang="en-GB" sz="1454">
                <a:latin typeface="Arial"/>
                <a:ea typeface="Arial"/>
                <a:cs typeface="Arial"/>
                <a:sym typeface="Arial"/>
              </a:rPr>
            </a:br>
            <a:endParaRPr sz="1454">
              <a:latin typeface="Arial"/>
              <a:ea typeface="Arial"/>
              <a:cs typeface="Arial"/>
              <a:sym typeface="Arial"/>
            </a:endParaRPr>
          </a:p>
          <a:p>
            <a:pPr indent="-314050" lvl="0" marL="457200" rtl="0" algn="l">
              <a:spcBef>
                <a:spcPts val="0"/>
              </a:spcBef>
              <a:spcAft>
                <a:spcPts val="0"/>
              </a:spcAft>
              <a:buClr>
                <a:schemeClr val="lt1"/>
              </a:buClr>
              <a:buSzPct val="100000"/>
              <a:buFont typeface="Arial"/>
              <a:buChar char="●"/>
            </a:pPr>
            <a:r>
              <a:rPr lang="en-GB" sz="1454">
                <a:latin typeface="Arial"/>
                <a:ea typeface="Arial"/>
                <a:cs typeface="Arial"/>
                <a:sym typeface="Arial"/>
              </a:rPr>
              <a:t>To compare performance metrics such as </a:t>
            </a:r>
            <a:r>
              <a:rPr b="1" lang="en-GB" sz="1454">
                <a:latin typeface="Arial"/>
                <a:ea typeface="Arial"/>
                <a:cs typeface="Arial"/>
                <a:sym typeface="Arial"/>
              </a:rPr>
              <a:t>training time, RMSE (Root Mean Square Error)</a:t>
            </a:r>
            <a:r>
              <a:rPr lang="en-GB" sz="1454">
                <a:latin typeface="Arial"/>
                <a:ea typeface="Arial"/>
                <a:cs typeface="Arial"/>
                <a:sym typeface="Arial"/>
              </a:rPr>
              <a:t>, and </a:t>
            </a:r>
            <a:r>
              <a:rPr b="1" lang="en-GB" sz="1454">
                <a:latin typeface="Arial"/>
                <a:ea typeface="Arial"/>
                <a:cs typeface="Arial"/>
                <a:sym typeface="Arial"/>
              </a:rPr>
              <a:t>memory utilization</a:t>
            </a:r>
            <a:r>
              <a:rPr lang="en-GB" sz="1454">
                <a:latin typeface="Arial"/>
                <a:ea typeface="Arial"/>
                <a:cs typeface="Arial"/>
                <a:sym typeface="Arial"/>
              </a:rPr>
              <a:t>.</a:t>
            </a:r>
            <a:br>
              <a:rPr lang="en-GB" sz="1454">
                <a:latin typeface="Arial"/>
                <a:ea typeface="Arial"/>
                <a:cs typeface="Arial"/>
                <a:sym typeface="Arial"/>
              </a:rPr>
            </a:br>
            <a:endParaRPr sz="1454">
              <a:latin typeface="Arial"/>
              <a:ea typeface="Arial"/>
              <a:cs typeface="Arial"/>
              <a:sym typeface="Arial"/>
            </a:endParaRPr>
          </a:p>
          <a:p>
            <a:pPr indent="-314050" lvl="0" marL="457200" rtl="0" algn="l">
              <a:spcBef>
                <a:spcPts val="0"/>
              </a:spcBef>
              <a:spcAft>
                <a:spcPts val="0"/>
              </a:spcAft>
              <a:buClr>
                <a:schemeClr val="lt1"/>
              </a:buClr>
              <a:buSzPct val="100000"/>
              <a:buFont typeface="Arial"/>
              <a:buChar char="●"/>
            </a:pPr>
            <a:r>
              <a:rPr lang="en-GB" sz="1454">
                <a:latin typeface="Arial"/>
                <a:ea typeface="Arial"/>
                <a:cs typeface="Arial"/>
                <a:sym typeface="Arial"/>
              </a:rPr>
              <a:t>To investigate how GPU acceleration enables scaling to larger spatial grids (e.g., 64×64).</a:t>
            </a:r>
            <a:br>
              <a:rPr lang="en-GB" sz="1454">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idx="1" type="body"/>
          </p:nvPr>
        </p:nvSpPr>
        <p:spPr>
          <a:xfrm>
            <a:off x="1234450" y="1216975"/>
            <a:ext cx="6676800" cy="392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100">
                <a:latin typeface="Arial"/>
                <a:ea typeface="Arial"/>
                <a:cs typeface="Arial"/>
                <a:sym typeface="Arial"/>
              </a:rPr>
              <a:t>Dataset / API</a:t>
            </a:r>
            <a:endParaRPr b="1" sz="1100">
              <a:latin typeface="Arial"/>
              <a:ea typeface="Arial"/>
              <a:cs typeface="Arial"/>
              <a:sym typeface="Arial"/>
            </a:endParaRPr>
          </a:p>
          <a:p>
            <a:pPr indent="0" lvl="0" marL="0" rtl="0" algn="l">
              <a:spcBef>
                <a:spcPts val="1200"/>
              </a:spcBef>
              <a:spcAft>
                <a:spcPts val="0"/>
              </a:spcAft>
              <a:buNone/>
            </a:pPr>
            <a:r>
              <a:rPr b="1" lang="en-GB" sz="1100">
                <a:latin typeface="Arial"/>
                <a:ea typeface="Arial"/>
                <a:cs typeface="Arial"/>
                <a:sym typeface="Arial"/>
              </a:rPr>
              <a:t>Copernicus Marine Environment Monitoring Service (CMEMS)</a:t>
            </a:r>
            <a:br>
              <a:rPr b="1" lang="en-GB" sz="1100">
                <a:latin typeface="Arial"/>
                <a:ea typeface="Arial"/>
                <a:cs typeface="Arial"/>
                <a:sym typeface="Arial"/>
              </a:rPr>
            </a:br>
            <a:r>
              <a:rPr lang="en-GB" sz="1100">
                <a:latin typeface="Arial"/>
                <a:ea typeface="Arial"/>
                <a:cs typeface="Arial"/>
                <a:sym typeface="Arial"/>
              </a:rPr>
              <a:t> Provides global and regional Sea Surface Temperature (SST) data in NetCDF format. Each file represents daily SST maps at varying spatial resolutions (e.g., 32×32 and 64×64 grids). The dataset offers sufficient temporal coverage to train spatiotemporal forecasting models.</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rPr b="1" lang="en-GB" sz="1100">
                <a:latin typeface="Arial"/>
                <a:ea typeface="Arial"/>
                <a:cs typeface="Arial"/>
                <a:sym typeface="Arial"/>
              </a:rPr>
              <a:t>Algorithm</a:t>
            </a:r>
            <a:endParaRPr b="1" sz="1100">
              <a:latin typeface="Arial"/>
              <a:ea typeface="Arial"/>
              <a:cs typeface="Arial"/>
              <a:sym typeface="Arial"/>
            </a:endParaRPr>
          </a:p>
          <a:p>
            <a:pPr indent="0" lvl="0" marL="0" rtl="0" algn="l">
              <a:spcBef>
                <a:spcPts val="1200"/>
              </a:spcBef>
              <a:spcAft>
                <a:spcPts val="0"/>
              </a:spcAft>
              <a:buNone/>
            </a:pPr>
            <a:r>
              <a:rPr b="1" lang="en-GB" sz="1100">
                <a:latin typeface="Arial"/>
                <a:ea typeface="Arial"/>
                <a:cs typeface="Arial"/>
                <a:sym typeface="Arial"/>
              </a:rPr>
              <a:t>ConvLSTM (Convolutional Long Short-Term Memory)</a:t>
            </a:r>
            <a:br>
              <a:rPr b="1" lang="en-GB" sz="1100">
                <a:latin typeface="Arial"/>
                <a:ea typeface="Arial"/>
                <a:cs typeface="Arial"/>
                <a:sym typeface="Arial"/>
              </a:rPr>
            </a:br>
            <a:r>
              <a:rPr lang="en-GB" sz="1100">
                <a:latin typeface="Arial"/>
                <a:ea typeface="Arial"/>
                <a:cs typeface="Arial"/>
                <a:sym typeface="Arial"/>
              </a:rPr>
              <a:t> Integrates convolutional operations with LSTM memory cells to capture both spatial and temporal dependencies. It learns ocean dynamics by observing sequences of SST maps and predicting future states</a:t>
            </a:r>
            <a:r>
              <a:rPr lang="en-GB"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Literature Review</a:t>
            </a:r>
            <a:endParaRPr/>
          </a:p>
        </p:txBody>
      </p:sp>
      <p:sp>
        <p:nvSpPr>
          <p:cNvPr id="170" name="Google Shape;170;p19"/>
          <p:cNvSpPr txBox="1"/>
          <p:nvPr>
            <p:ph idx="1" type="body"/>
          </p:nvPr>
        </p:nvSpPr>
        <p:spPr>
          <a:xfrm>
            <a:off x="4521975" y="1149450"/>
            <a:ext cx="3842700" cy="34047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lang="en-GB" sz="1500"/>
              <a:t>Overview of Related Work</a:t>
            </a:r>
            <a:endParaRPr sz="1500"/>
          </a:p>
          <a:p>
            <a:pPr indent="-304958" lvl="0" marL="457200" rtl="0" algn="l">
              <a:spcBef>
                <a:spcPts val="1200"/>
              </a:spcBef>
              <a:spcAft>
                <a:spcPts val="0"/>
              </a:spcAft>
              <a:buSzPct val="100000"/>
              <a:buFont typeface="Arial"/>
              <a:buChar char="●"/>
            </a:pPr>
            <a:r>
              <a:rPr lang="en-GB">
                <a:latin typeface="Arial"/>
                <a:ea typeface="Arial"/>
                <a:cs typeface="Arial"/>
                <a:sym typeface="Arial"/>
              </a:rPr>
              <a:t>Several studies have applied deep learning to SST forecasting with varying model designs and focuses.</a:t>
            </a:r>
            <a:br>
              <a:rPr lang="en-GB">
                <a:latin typeface="Arial"/>
                <a:ea typeface="Arial"/>
                <a:cs typeface="Arial"/>
                <a:sym typeface="Arial"/>
              </a:rPr>
            </a:br>
            <a:endParaRPr>
              <a:latin typeface="Arial"/>
              <a:ea typeface="Arial"/>
              <a:cs typeface="Arial"/>
              <a:sym typeface="Arial"/>
            </a:endParaRPr>
          </a:p>
          <a:p>
            <a:pPr indent="-304958" lvl="0" marL="457200" rtl="0" algn="l">
              <a:spcBef>
                <a:spcPts val="0"/>
              </a:spcBef>
              <a:spcAft>
                <a:spcPts val="0"/>
              </a:spcAft>
              <a:buSzPct val="100000"/>
              <a:buFont typeface="Arial"/>
              <a:buChar char="●"/>
            </a:pPr>
            <a:r>
              <a:rPr b="1" lang="en-GB">
                <a:latin typeface="Arial"/>
                <a:ea typeface="Arial"/>
                <a:cs typeface="Arial"/>
                <a:sym typeface="Arial"/>
              </a:rPr>
              <a:t>Shi et al. (2024)</a:t>
            </a:r>
            <a:r>
              <a:rPr lang="en-GB">
                <a:latin typeface="Arial"/>
                <a:ea typeface="Arial"/>
                <a:cs typeface="Arial"/>
                <a:sym typeface="Arial"/>
              </a:rPr>
              <a:t> proposed a ConvLSTM model with deformable attention to enhance spatial feature extraction for regional SST, showing accuracy improvements but limited runtime evaluation.</a:t>
            </a:r>
            <a:br>
              <a:rPr lang="en-GB">
                <a:latin typeface="Arial"/>
                <a:ea typeface="Arial"/>
                <a:cs typeface="Arial"/>
                <a:sym typeface="Arial"/>
              </a:rPr>
            </a:br>
            <a:endParaRPr>
              <a:latin typeface="Arial"/>
              <a:ea typeface="Arial"/>
              <a:cs typeface="Arial"/>
              <a:sym typeface="Arial"/>
            </a:endParaRPr>
          </a:p>
          <a:p>
            <a:pPr indent="-304958" lvl="0" marL="457200" rtl="0" algn="l">
              <a:spcBef>
                <a:spcPts val="0"/>
              </a:spcBef>
              <a:spcAft>
                <a:spcPts val="0"/>
              </a:spcAft>
              <a:buSzPct val="100000"/>
              <a:buFont typeface="Arial"/>
              <a:buChar char="●"/>
            </a:pPr>
            <a:r>
              <a:rPr b="1" lang="en-GB">
                <a:latin typeface="Arial"/>
                <a:ea typeface="Arial"/>
                <a:cs typeface="Arial"/>
                <a:sym typeface="Arial"/>
              </a:rPr>
              <a:t>Cao et al. (2025)</a:t>
            </a:r>
            <a:r>
              <a:rPr lang="en-GB">
                <a:latin typeface="Arial"/>
                <a:ea typeface="Arial"/>
                <a:cs typeface="Arial"/>
                <a:sym typeface="Arial"/>
              </a:rPr>
              <a:t> introduced a feature-granularity-based ConvLSTM approach for long-term SST prediction, extending lead times but lacking GPU benchmarking.</a:t>
            </a:r>
            <a:endParaRPr/>
          </a:p>
          <a:p>
            <a:pPr indent="0" lvl="0" marL="0" rtl="0" algn="l">
              <a:spcBef>
                <a:spcPts val="1200"/>
              </a:spcBef>
              <a:spcAft>
                <a:spcPts val="1200"/>
              </a:spcAft>
              <a:buNone/>
            </a:pPr>
            <a:r>
              <a:t/>
            </a:r>
            <a:endParaRPr/>
          </a:p>
        </p:txBody>
      </p:sp>
      <p:sp>
        <p:nvSpPr>
          <p:cNvPr id="171" name="Google Shape;171;p19"/>
          <p:cNvSpPr txBox="1"/>
          <p:nvPr/>
        </p:nvSpPr>
        <p:spPr>
          <a:xfrm>
            <a:off x="1241125" y="1307850"/>
            <a:ext cx="3000000" cy="297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1300">
                <a:solidFill>
                  <a:schemeClr val="lt1"/>
                </a:solidFill>
                <a:latin typeface="Lato"/>
                <a:ea typeface="Lato"/>
                <a:cs typeface="Lato"/>
                <a:sym typeface="Lato"/>
              </a:rPr>
              <a:t>Model–resolution interaction: A few papers stress that model architecture and hyperparameters must be retuned per grid size — performance (RMSE) can vary non-monotonically with resolution. (Result where 32×32 showed CPU advantage in RMSE)  </a:t>
            </a:r>
            <a:br>
              <a:rPr lang="en-GB" sz="1300">
                <a:solidFill>
                  <a:schemeClr val="lt1"/>
                </a:solidFill>
                <a:latin typeface="Lato"/>
                <a:ea typeface="Lato"/>
                <a:cs typeface="Lato"/>
                <a:sym typeface="Lato"/>
              </a:rPr>
            </a:br>
            <a:br>
              <a:rPr lang="en-GB" sz="1300">
                <a:solidFill>
                  <a:schemeClr val="lt1"/>
                </a:solidFill>
                <a:highlight>
                  <a:schemeClr val="lt1"/>
                </a:highlight>
                <a:latin typeface="Lato"/>
                <a:ea typeface="Lato"/>
                <a:cs typeface="Lato"/>
                <a:sym typeface="Lato"/>
              </a:rPr>
            </a:br>
            <a:r>
              <a:rPr lang="en-GB" sz="1100">
                <a:highlight>
                  <a:schemeClr val="lt1"/>
                </a:highlight>
              </a:rPr>
              <a:t>Shi, B.; Ge, C.; Lin, H.; et al. </a:t>
            </a:r>
            <a:r>
              <a:rPr i="1" lang="en-GB" sz="1100">
                <a:highlight>
                  <a:schemeClr val="lt1"/>
                </a:highlight>
              </a:rPr>
              <a:t>Sea Surface Temperature Prediction Using ConvLSTM-Based Model with Deformable Attention.</a:t>
            </a:r>
            <a:r>
              <a:rPr lang="en-GB" sz="1100">
                <a:highlight>
                  <a:schemeClr val="lt1"/>
                </a:highlight>
              </a:rPr>
              <a:t> Remote Sensing, </a:t>
            </a:r>
            <a:r>
              <a:rPr b="1" lang="en-GB" sz="1100">
                <a:highlight>
                  <a:schemeClr val="lt1"/>
                </a:highlight>
              </a:rPr>
              <a:t>2024</a:t>
            </a:r>
            <a:r>
              <a:rPr lang="en-GB" sz="1100">
                <a:highlight>
                  <a:schemeClr val="lt1"/>
                </a:highlight>
              </a:rPr>
              <a:t>, 16(22), 4126. DOI: </a:t>
            </a:r>
            <a:r>
              <a:rPr b="1" lang="en-GB" sz="1100">
                <a:highlight>
                  <a:schemeClr val="lt1"/>
                </a:highlight>
              </a:rPr>
              <a:t>10.3390/rs16224126</a:t>
            </a:r>
            <a:r>
              <a:rPr lang="en-GB" sz="1100">
                <a:highlight>
                  <a:schemeClr val="lt1"/>
                </a:highlight>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Literature Review</a:t>
            </a:r>
            <a:endParaRPr/>
          </a:p>
        </p:txBody>
      </p:sp>
      <p:sp>
        <p:nvSpPr>
          <p:cNvPr id="177" name="Google Shape;177;p20"/>
          <p:cNvSpPr txBox="1"/>
          <p:nvPr>
            <p:ph idx="1" type="body"/>
          </p:nvPr>
        </p:nvSpPr>
        <p:spPr>
          <a:xfrm>
            <a:off x="1297500" y="1081400"/>
            <a:ext cx="7038900" cy="34437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GB" sz="1770"/>
              <a:t>Identified Gaps and Limitations</a:t>
            </a:r>
            <a:endParaRPr sz="1770"/>
          </a:p>
          <a:p>
            <a:pPr indent="-309562" lvl="0" marL="457200" rtl="0" algn="l">
              <a:spcBef>
                <a:spcPts val="1200"/>
              </a:spcBef>
              <a:spcAft>
                <a:spcPts val="0"/>
              </a:spcAft>
              <a:buSzPct val="100000"/>
              <a:buFont typeface="Arial"/>
              <a:buChar char="●"/>
            </a:pPr>
            <a:r>
              <a:rPr lang="en-GB" sz="1500">
                <a:latin typeface="Arial"/>
                <a:ea typeface="Arial"/>
                <a:cs typeface="Arial"/>
                <a:sym typeface="Arial"/>
              </a:rPr>
              <a:t>Existing systems mainly evaluate model accuracy but rarely assess </a:t>
            </a:r>
            <a:r>
              <a:rPr b="1" lang="en-GB" sz="1500">
                <a:latin typeface="Arial"/>
                <a:ea typeface="Arial"/>
                <a:cs typeface="Arial"/>
                <a:sym typeface="Arial"/>
              </a:rPr>
              <a:t>computational efficiency</a:t>
            </a:r>
            <a:r>
              <a:rPr lang="en-GB" sz="1500">
                <a:latin typeface="Arial"/>
                <a:ea typeface="Arial"/>
                <a:cs typeface="Arial"/>
                <a:sym typeface="Arial"/>
              </a:rPr>
              <a:t>.</a:t>
            </a:r>
            <a:br>
              <a:rPr lang="en-GB" sz="1500">
                <a:latin typeface="Arial"/>
                <a:ea typeface="Arial"/>
                <a:cs typeface="Arial"/>
                <a:sym typeface="Arial"/>
              </a:rPr>
            </a:br>
            <a:endParaRPr sz="1500">
              <a:latin typeface="Arial"/>
              <a:ea typeface="Arial"/>
              <a:cs typeface="Arial"/>
              <a:sym typeface="Arial"/>
            </a:endParaRPr>
          </a:p>
          <a:p>
            <a:pPr indent="-309562" lvl="0" marL="457200" rtl="0" algn="l">
              <a:spcBef>
                <a:spcPts val="0"/>
              </a:spcBef>
              <a:spcAft>
                <a:spcPts val="0"/>
              </a:spcAft>
              <a:buSzPct val="100000"/>
              <a:buFont typeface="Arial"/>
              <a:buChar char="●"/>
            </a:pPr>
            <a:r>
              <a:rPr lang="en-GB" sz="1500">
                <a:latin typeface="Arial"/>
                <a:ea typeface="Arial"/>
                <a:cs typeface="Arial"/>
                <a:sym typeface="Arial"/>
              </a:rPr>
              <a:t>Lack of detailed </a:t>
            </a:r>
            <a:r>
              <a:rPr b="1" lang="en-GB" sz="1500">
                <a:latin typeface="Arial"/>
                <a:ea typeface="Arial"/>
                <a:cs typeface="Arial"/>
                <a:sym typeface="Arial"/>
              </a:rPr>
              <a:t>CPU vs GPU comparisons</a:t>
            </a:r>
            <a:r>
              <a:rPr lang="en-GB" sz="1500">
                <a:latin typeface="Arial"/>
                <a:ea typeface="Arial"/>
                <a:cs typeface="Arial"/>
                <a:sym typeface="Arial"/>
              </a:rPr>
              <a:t> in SST or ocean forecasting literature.</a:t>
            </a:r>
            <a:br>
              <a:rPr lang="en-GB" sz="1500">
                <a:latin typeface="Arial"/>
                <a:ea typeface="Arial"/>
                <a:cs typeface="Arial"/>
                <a:sym typeface="Arial"/>
              </a:rPr>
            </a:br>
            <a:endParaRPr sz="1500">
              <a:latin typeface="Arial"/>
              <a:ea typeface="Arial"/>
              <a:cs typeface="Arial"/>
              <a:sym typeface="Arial"/>
            </a:endParaRPr>
          </a:p>
          <a:p>
            <a:pPr indent="-309562" lvl="0" marL="457200" rtl="0" algn="l">
              <a:spcBef>
                <a:spcPts val="0"/>
              </a:spcBef>
              <a:spcAft>
                <a:spcPts val="0"/>
              </a:spcAft>
              <a:buSzPct val="100000"/>
              <a:buFont typeface="Arial"/>
              <a:buChar char="●"/>
            </a:pPr>
            <a:r>
              <a:rPr lang="en-GB" sz="1500">
                <a:latin typeface="Arial"/>
                <a:ea typeface="Arial"/>
                <a:cs typeface="Arial"/>
                <a:sym typeface="Arial"/>
              </a:rPr>
              <a:t>Limited exploration of </a:t>
            </a:r>
            <a:r>
              <a:rPr b="1" lang="en-GB" sz="1500">
                <a:latin typeface="Arial"/>
                <a:ea typeface="Arial"/>
                <a:cs typeface="Arial"/>
                <a:sym typeface="Arial"/>
              </a:rPr>
              <a:t>mixed precision training</a:t>
            </a:r>
            <a:r>
              <a:rPr lang="en-GB" sz="1500">
                <a:latin typeface="Arial"/>
                <a:ea typeface="Arial"/>
                <a:cs typeface="Arial"/>
                <a:sym typeface="Arial"/>
              </a:rPr>
              <a:t> and GPU memory optimization.</a:t>
            </a:r>
            <a:br>
              <a:rPr lang="en-GB" sz="1500">
                <a:latin typeface="Arial"/>
                <a:ea typeface="Arial"/>
                <a:cs typeface="Arial"/>
                <a:sym typeface="Arial"/>
              </a:rPr>
            </a:br>
            <a:endParaRPr sz="1500">
              <a:latin typeface="Arial"/>
              <a:ea typeface="Arial"/>
              <a:cs typeface="Arial"/>
              <a:sym typeface="Arial"/>
            </a:endParaRPr>
          </a:p>
          <a:p>
            <a:pPr indent="-309562" lvl="0" marL="457200" rtl="0" algn="l">
              <a:spcBef>
                <a:spcPts val="0"/>
              </a:spcBef>
              <a:spcAft>
                <a:spcPts val="0"/>
              </a:spcAft>
              <a:buSzPct val="100000"/>
              <a:buFont typeface="Arial"/>
              <a:buChar char="●"/>
            </a:pPr>
            <a:r>
              <a:rPr lang="en-GB" sz="1500">
                <a:latin typeface="Arial"/>
                <a:ea typeface="Arial"/>
                <a:cs typeface="Arial"/>
                <a:sym typeface="Arial"/>
              </a:rPr>
              <a:t>Many models are trained on small, localized datasets and fail to scale to larger regional grids.</a:t>
            </a:r>
            <a:br>
              <a:rPr lang="en-GB" sz="1500">
                <a:latin typeface="Arial"/>
                <a:ea typeface="Arial"/>
                <a:cs typeface="Arial"/>
                <a:sym typeface="Arial"/>
              </a:rPr>
            </a:br>
            <a:endParaRPr sz="1500">
              <a:latin typeface="Arial"/>
              <a:ea typeface="Arial"/>
              <a:cs typeface="Arial"/>
              <a:sym typeface="Arial"/>
            </a:endParaRPr>
          </a:p>
          <a:p>
            <a:pPr indent="-309562" lvl="0" marL="457200" rtl="0" algn="l">
              <a:spcBef>
                <a:spcPts val="0"/>
              </a:spcBef>
              <a:spcAft>
                <a:spcPts val="0"/>
              </a:spcAft>
              <a:buSzPct val="100000"/>
              <a:buFont typeface="Arial"/>
              <a:buChar char="●"/>
            </a:pPr>
            <a:r>
              <a:rPr lang="en-GB" sz="1500">
                <a:latin typeface="Arial"/>
                <a:ea typeface="Arial"/>
                <a:cs typeface="Arial"/>
                <a:sym typeface="Arial"/>
              </a:rPr>
              <a:t>This project bridges these gaps by providing reproducible </a:t>
            </a:r>
            <a:r>
              <a:rPr b="1" lang="en-GB" sz="1500">
                <a:latin typeface="Arial"/>
                <a:ea typeface="Arial"/>
                <a:cs typeface="Arial"/>
                <a:sym typeface="Arial"/>
              </a:rPr>
              <a:t>GPU benchmarking</a:t>
            </a:r>
            <a:r>
              <a:rPr lang="en-GB" sz="1500">
                <a:latin typeface="Arial"/>
                <a:ea typeface="Arial"/>
                <a:cs typeface="Arial"/>
                <a:sym typeface="Arial"/>
              </a:rPr>
              <a:t> and demonstrating </a:t>
            </a:r>
            <a:r>
              <a:rPr b="1" lang="en-GB" sz="1500">
                <a:latin typeface="Arial"/>
                <a:ea typeface="Arial"/>
                <a:cs typeface="Arial"/>
                <a:sym typeface="Arial"/>
              </a:rPr>
              <a:t>practical scalability</a:t>
            </a:r>
            <a:r>
              <a:rPr lang="en-GB" sz="1500">
                <a:latin typeface="Arial"/>
                <a:ea typeface="Arial"/>
                <a:cs typeface="Arial"/>
                <a:sym typeface="Arial"/>
              </a:rPr>
              <a:t> of ConvLSTM models for real ocean datasets.</a:t>
            </a:r>
            <a:endParaRPr sz="15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METHODOLOGY</a:t>
            </a:r>
            <a:endParaRPr/>
          </a:p>
        </p:txBody>
      </p:sp>
      <p:sp>
        <p:nvSpPr>
          <p:cNvPr id="183" name="Google Shape;183;p21"/>
          <p:cNvSpPr txBox="1"/>
          <p:nvPr/>
        </p:nvSpPr>
        <p:spPr>
          <a:xfrm>
            <a:off x="1073825" y="1019675"/>
            <a:ext cx="7631100" cy="36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100">
                <a:solidFill>
                  <a:schemeClr val="lt1"/>
                </a:solidFill>
              </a:rPr>
              <a:t>Module 1 – Data Acquisition &amp; Preprocessing</a:t>
            </a:r>
            <a:br>
              <a:rPr b="1" lang="en-GB" sz="1100">
                <a:solidFill>
                  <a:schemeClr val="lt1"/>
                </a:solidFill>
              </a:rPr>
            </a:br>
            <a:r>
              <a:rPr lang="en-GB" sz="1100">
                <a:solidFill>
                  <a:schemeClr val="lt1"/>
                </a:solidFill>
              </a:rPr>
              <a:t> Copernicus marine SST data is loaded, cleaned, and structured into NumPy arrays. The dataset is standardized and split into training, validation, and test sets.</a:t>
            </a:r>
            <a:endParaRPr sz="1100">
              <a:solidFill>
                <a:schemeClr val="lt1"/>
              </a:solidFill>
            </a:endParaRPr>
          </a:p>
          <a:p>
            <a:pPr indent="0" lvl="0" marL="0" rtl="0" algn="l">
              <a:lnSpc>
                <a:spcPct val="115000"/>
              </a:lnSpc>
              <a:spcBef>
                <a:spcPts val="1200"/>
              </a:spcBef>
              <a:spcAft>
                <a:spcPts val="0"/>
              </a:spcAft>
              <a:buNone/>
            </a:pPr>
            <a:r>
              <a:rPr b="1" lang="en-GB" sz="1100">
                <a:solidFill>
                  <a:schemeClr val="lt1"/>
                </a:solidFill>
              </a:rPr>
              <a:t>Module 2 – Data Preparation</a:t>
            </a:r>
            <a:br>
              <a:rPr b="1" lang="en-GB" sz="1100">
                <a:solidFill>
                  <a:schemeClr val="lt1"/>
                </a:solidFill>
              </a:rPr>
            </a:br>
            <a:r>
              <a:rPr lang="en-GB" sz="1100">
                <a:solidFill>
                  <a:schemeClr val="lt1"/>
                </a:solidFill>
              </a:rPr>
              <a:t> Data is reshaped into temporal grids suitable for spatiotemporal forecasting. Each grid represents sea surface temperature sequences used for ConvLSTM input.</a:t>
            </a:r>
            <a:endParaRPr sz="1100">
              <a:solidFill>
                <a:schemeClr val="lt1"/>
              </a:solidFill>
            </a:endParaRPr>
          </a:p>
          <a:p>
            <a:pPr indent="0" lvl="0" marL="0" rtl="0" algn="l">
              <a:lnSpc>
                <a:spcPct val="115000"/>
              </a:lnSpc>
              <a:spcBef>
                <a:spcPts val="1200"/>
              </a:spcBef>
              <a:spcAft>
                <a:spcPts val="0"/>
              </a:spcAft>
              <a:buNone/>
            </a:pPr>
            <a:r>
              <a:rPr b="1" lang="en-GB" sz="1100">
                <a:solidFill>
                  <a:schemeClr val="lt1"/>
                </a:solidFill>
              </a:rPr>
              <a:t>Module 3 – Model Definition</a:t>
            </a:r>
            <a:br>
              <a:rPr b="1" lang="en-GB" sz="1100">
                <a:solidFill>
                  <a:schemeClr val="lt1"/>
                </a:solidFill>
              </a:rPr>
            </a:br>
            <a:r>
              <a:rPr lang="en-GB" sz="1100">
                <a:solidFill>
                  <a:schemeClr val="lt1"/>
                </a:solidFill>
              </a:rPr>
              <a:t> A custom </a:t>
            </a:r>
            <a:r>
              <a:rPr b="1" lang="en-GB" sz="1100">
                <a:solidFill>
                  <a:schemeClr val="lt1"/>
                </a:solidFill>
              </a:rPr>
              <a:t>ConvLSTM-based forecasting model</a:t>
            </a:r>
            <a:r>
              <a:rPr lang="en-GB" sz="1100">
                <a:solidFill>
                  <a:schemeClr val="lt1"/>
                </a:solidFill>
              </a:rPr>
              <a:t> is implemented. It includes an encoder–decoder architecture that captures spatial and temporal dependencies in SST patterns for multi-step prediction.</a:t>
            </a:r>
            <a:endParaRPr sz="1100">
              <a:solidFill>
                <a:schemeClr val="lt1"/>
              </a:solidFill>
            </a:endParaRPr>
          </a:p>
          <a:p>
            <a:pPr indent="0" lvl="0" marL="0" rtl="0" algn="l">
              <a:lnSpc>
                <a:spcPct val="115000"/>
              </a:lnSpc>
              <a:spcBef>
                <a:spcPts val="1200"/>
              </a:spcBef>
              <a:spcAft>
                <a:spcPts val="0"/>
              </a:spcAft>
              <a:buNone/>
            </a:pPr>
            <a:r>
              <a:rPr b="1" lang="en-GB" sz="1100">
                <a:solidFill>
                  <a:schemeClr val="lt1"/>
                </a:solidFill>
              </a:rPr>
              <a:t>Module 4 – Training &amp; Benchmarking</a:t>
            </a:r>
            <a:br>
              <a:rPr b="1" lang="en-GB" sz="1100">
                <a:solidFill>
                  <a:schemeClr val="lt1"/>
                </a:solidFill>
              </a:rPr>
            </a:br>
            <a:r>
              <a:rPr lang="en-GB" sz="1100">
                <a:solidFill>
                  <a:schemeClr val="lt1"/>
                </a:solidFill>
              </a:rPr>
              <a:t> Models are trained and validated on both </a:t>
            </a:r>
            <a:r>
              <a:rPr b="1" lang="en-GB" sz="1100">
                <a:solidFill>
                  <a:schemeClr val="lt1"/>
                </a:solidFill>
              </a:rPr>
              <a:t>CPU</a:t>
            </a:r>
            <a:r>
              <a:rPr lang="en-GB" sz="1100">
                <a:solidFill>
                  <a:schemeClr val="lt1"/>
                </a:solidFill>
              </a:rPr>
              <a:t> and </a:t>
            </a:r>
            <a:r>
              <a:rPr b="1" lang="en-GB" sz="1100">
                <a:solidFill>
                  <a:schemeClr val="lt1"/>
                </a:solidFill>
              </a:rPr>
              <a:t>GPU</a:t>
            </a:r>
            <a:r>
              <a:rPr lang="en-GB" sz="1100">
                <a:solidFill>
                  <a:schemeClr val="lt1"/>
                </a:solidFill>
              </a:rPr>
              <a:t>, tracking loss, RMSE, and training time. A multi-grid benchmarking experiment evaluates performance across different spatial resolutions.</a:t>
            </a:r>
            <a:endParaRPr sz="1100">
              <a:solidFill>
                <a:schemeClr val="lt1"/>
              </a:solidFill>
            </a:endParaRPr>
          </a:p>
          <a:p>
            <a:pPr indent="0" lvl="0" marL="0" rtl="0" algn="l">
              <a:lnSpc>
                <a:spcPct val="115000"/>
              </a:lnSpc>
              <a:spcBef>
                <a:spcPts val="1200"/>
              </a:spcBef>
              <a:spcAft>
                <a:spcPts val="1200"/>
              </a:spcAft>
              <a:buNone/>
            </a:pPr>
            <a:r>
              <a:rPr b="1" lang="en-GB" sz="1100">
                <a:solidFill>
                  <a:schemeClr val="lt1"/>
                </a:solidFill>
              </a:rPr>
              <a:t>Module 5 – Visualization</a:t>
            </a:r>
            <a:br>
              <a:rPr b="1" lang="en-GB" sz="1100">
                <a:solidFill>
                  <a:schemeClr val="lt1"/>
                </a:solidFill>
              </a:rPr>
            </a:br>
            <a:r>
              <a:rPr lang="en-GB" sz="1100">
                <a:solidFill>
                  <a:schemeClr val="lt1"/>
                </a:solidFill>
              </a:rPr>
              <a:t> Comprehensive visual analysis is performed—training loss curves, RMSE trends, and runtime comparisons—to illustrate model performance and hardware efficiency across grid sizes.</a:t>
            </a:r>
            <a:endParaRPr sz="11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2"/>
          <p:cNvPicPr preferRelativeResize="0"/>
          <p:nvPr/>
        </p:nvPicPr>
        <p:blipFill>
          <a:blip r:embed="rId3">
            <a:alphaModFix/>
          </a:blip>
          <a:stretch>
            <a:fillRect/>
          </a:stretch>
        </p:blipFill>
        <p:spPr>
          <a:xfrm>
            <a:off x="872125" y="-208550"/>
            <a:ext cx="7634393" cy="48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body"/>
          </p:nvPr>
        </p:nvSpPr>
        <p:spPr>
          <a:xfrm>
            <a:off x="1055775" y="808200"/>
            <a:ext cx="2598900" cy="3888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100">
                <a:latin typeface="Arial"/>
                <a:ea typeface="Arial"/>
                <a:cs typeface="Arial"/>
                <a:sym typeface="Arial"/>
              </a:rPr>
              <a:t>Module 1 – Data Acquisition</a:t>
            </a:r>
            <a:endParaRPr b="1" sz="1100">
              <a:latin typeface="Arial"/>
              <a:ea typeface="Arial"/>
              <a:cs typeface="Arial"/>
              <a:sym typeface="Arial"/>
            </a:endParaRPr>
          </a:p>
          <a:p>
            <a:pPr indent="0" lvl="0" marL="0" rtl="0" algn="l">
              <a:spcBef>
                <a:spcPts val="1200"/>
              </a:spcBef>
              <a:spcAft>
                <a:spcPts val="0"/>
              </a:spcAft>
              <a:buNone/>
            </a:pPr>
            <a:r>
              <a:rPr lang="en-GB" sz="1100">
                <a:latin typeface="Arial"/>
                <a:ea typeface="Arial"/>
                <a:cs typeface="Arial"/>
                <a:sym typeface="Arial"/>
              </a:rPr>
              <a:t>This module retrieves SST data from Copernicus datasets in NetCDF format.</a:t>
            </a:r>
            <a:br>
              <a:rPr lang="en-GB" sz="1100">
                <a:latin typeface="Arial"/>
                <a:ea typeface="Arial"/>
                <a:cs typeface="Arial"/>
                <a:sym typeface="Arial"/>
              </a:rPr>
            </a:br>
            <a:r>
              <a:rPr lang="en-GB" sz="1100">
                <a:latin typeface="Arial"/>
                <a:ea typeface="Arial"/>
                <a:cs typeface="Arial"/>
                <a:sym typeface="Arial"/>
              </a:rPr>
              <a:t> </a:t>
            </a:r>
            <a:r>
              <a:rPr b="1" lang="en-GB" sz="1100">
                <a:latin typeface="Arial"/>
                <a:ea typeface="Arial"/>
                <a:cs typeface="Arial"/>
                <a:sym typeface="Arial"/>
              </a:rPr>
              <a:t>Process:</a:t>
            </a:r>
            <a:endParaRPr b="1"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lang="en-GB" sz="1100">
                <a:latin typeface="Arial"/>
                <a:ea typeface="Arial"/>
                <a:cs typeface="Arial"/>
                <a:sym typeface="Arial"/>
              </a:rPr>
              <a:t>Load NetCDF files using </a:t>
            </a:r>
            <a:r>
              <a:rPr i="1" lang="en-GB" sz="1100">
                <a:latin typeface="Arial"/>
                <a:ea typeface="Arial"/>
                <a:cs typeface="Arial"/>
                <a:sym typeface="Arial"/>
              </a:rPr>
              <a:t>xarray</a:t>
            </a:r>
            <a:r>
              <a:rPr lang="en-GB" sz="1100">
                <a:latin typeface="Arial"/>
                <a:ea typeface="Arial"/>
                <a:cs typeface="Arial"/>
                <a:sym typeface="Arial"/>
              </a:rPr>
              <a:t> and </a:t>
            </a:r>
            <a:r>
              <a:rPr i="1" lang="en-GB" sz="1100">
                <a:latin typeface="Arial"/>
                <a:ea typeface="Arial"/>
                <a:cs typeface="Arial"/>
                <a:sym typeface="Arial"/>
              </a:rPr>
              <a:t>netCDF4</a:t>
            </a:r>
            <a:r>
              <a:rPr lang="en-GB" sz="1100">
                <a:latin typeface="Arial"/>
                <a:ea typeface="Arial"/>
                <a:cs typeface="Arial"/>
                <a:sym typeface="Arial"/>
              </a:rPr>
              <a:t>.</a:t>
            </a:r>
            <a:br>
              <a:rPr lang="en-GB"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en-GB" sz="1100">
                <a:latin typeface="Arial"/>
                <a:ea typeface="Arial"/>
                <a:cs typeface="Arial"/>
                <a:sym typeface="Arial"/>
              </a:rPr>
              <a:t>Subset specific latitude, longitude, and temporal bounds.</a:t>
            </a:r>
            <a:br>
              <a:rPr lang="en-GB"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lang="en-GB" sz="1100">
                <a:latin typeface="Arial"/>
                <a:ea typeface="Arial"/>
                <a:cs typeface="Arial"/>
                <a:sym typeface="Arial"/>
              </a:rPr>
              <a:t>Store extracted arrays for preprocessing.</a:t>
            </a:r>
            <a:endParaRPr sz="1100">
              <a:latin typeface="Arial"/>
              <a:ea typeface="Arial"/>
              <a:cs typeface="Arial"/>
              <a:sym typeface="Arial"/>
            </a:endParaRPr>
          </a:p>
          <a:p>
            <a:pPr indent="0" lvl="0" marL="0" rtl="0" algn="l">
              <a:spcBef>
                <a:spcPts val="1200"/>
              </a:spcBef>
              <a:spcAft>
                <a:spcPts val="1200"/>
              </a:spcAft>
              <a:buNone/>
            </a:pPr>
            <a:r>
              <a:t/>
            </a:r>
            <a:endParaRPr/>
          </a:p>
        </p:txBody>
      </p:sp>
      <p:pic>
        <p:nvPicPr>
          <p:cNvPr id="194" name="Google Shape;194;p23"/>
          <p:cNvPicPr preferRelativeResize="0"/>
          <p:nvPr/>
        </p:nvPicPr>
        <p:blipFill>
          <a:blip r:embed="rId3">
            <a:alphaModFix/>
          </a:blip>
          <a:stretch>
            <a:fillRect/>
          </a:stretch>
        </p:blipFill>
        <p:spPr>
          <a:xfrm>
            <a:off x="3815600" y="808188"/>
            <a:ext cx="5015049" cy="3887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200" name="Google Shape;200;p24"/>
          <p:cNvSpPr txBox="1"/>
          <p:nvPr/>
        </p:nvSpPr>
        <p:spPr>
          <a:xfrm>
            <a:off x="1512225" y="1100900"/>
            <a:ext cx="5869200" cy="318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sz="1300">
                <a:solidFill>
                  <a:schemeClr val="lt1"/>
                </a:solidFill>
              </a:rPr>
              <a:t>Module 2 – Preprocessing and Visualization</a:t>
            </a:r>
            <a:endParaRPr b="1" sz="1300">
              <a:solidFill>
                <a:schemeClr val="lt1"/>
              </a:solidFill>
            </a:endParaRPr>
          </a:p>
          <a:p>
            <a:pPr indent="0" lvl="0" marL="0" rtl="0" algn="l">
              <a:lnSpc>
                <a:spcPct val="115000"/>
              </a:lnSpc>
              <a:spcBef>
                <a:spcPts val="1200"/>
              </a:spcBef>
              <a:spcAft>
                <a:spcPts val="0"/>
              </a:spcAft>
              <a:buNone/>
            </a:pPr>
            <a:r>
              <a:rPr lang="en-GB" sz="1100">
                <a:solidFill>
                  <a:schemeClr val="lt1"/>
                </a:solidFill>
              </a:rPr>
              <a:t>This module prepares SST data for ConvLSTM input by standardizing its spatial grid, normalizing values, and splitting it into training, validation, and test sets.</a:t>
            </a:r>
            <a:endParaRPr sz="1100">
              <a:solidFill>
                <a:schemeClr val="lt1"/>
              </a:solidFill>
            </a:endParaRPr>
          </a:p>
          <a:p>
            <a:pPr indent="0" lvl="0" marL="0" rtl="0" algn="l">
              <a:lnSpc>
                <a:spcPct val="115000"/>
              </a:lnSpc>
              <a:spcBef>
                <a:spcPts val="1200"/>
              </a:spcBef>
              <a:spcAft>
                <a:spcPts val="0"/>
              </a:spcAft>
              <a:buNone/>
            </a:pPr>
            <a:r>
              <a:rPr b="1" lang="en-GB" sz="1100">
                <a:solidFill>
                  <a:schemeClr val="lt1"/>
                </a:solidFill>
              </a:rPr>
              <a:t>Process:</a:t>
            </a:r>
            <a:endParaRPr b="1"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en-GB" sz="1100">
                <a:solidFill>
                  <a:schemeClr val="lt1"/>
                </a:solidFill>
              </a:rPr>
              <a:t>Regrid SST data to a uniform </a:t>
            </a:r>
            <a:r>
              <a:rPr b="1" lang="en-GB" sz="1100">
                <a:solidFill>
                  <a:schemeClr val="lt1"/>
                </a:solidFill>
              </a:rPr>
              <a:t>32×32 spatial resolution</a:t>
            </a:r>
            <a:r>
              <a:rPr lang="en-GB" sz="1100">
                <a:solidFill>
                  <a:schemeClr val="lt1"/>
                </a:solidFill>
              </a:rPr>
              <a:t> using linear interpolation.</a:t>
            </a:r>
            <a:br>
              <a:rPr lang="en-GB"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Visualize the regridded SST map for verification.</a:t>
            </a:r>
            <a:br>
              <a:rPr lang="en-GB"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Create temporal sequences with </a:t>
            </a:r>
            <a:r>
              <a:rPr b="1" lang="en-GB" sz="1100">
                <a:solidFill>
                  <a:schemeClr val="lt1"/>
                </a:solidFill>
              </a:rPr>
              <a:t>7 input frames</a:t>
            </a:r>
            <a:r>
              <a:rPr lang="en-GB" sz="1100">
                <a:solidFill>
                  <a:schemeClr val="lt1"/>
                </a:solidFill>
              </a:rPr>
              <a:t> and </a:t>
            </a:r>
            <a:r>
              <a:rPr b="1" lang="en-GB" sz="1100">
                <a:solidFill>
                  <a:schemeClr val="lt1"/>
                </a:solidFill>
              </a:rPr>
              <a:t>1 output frame</a:t>
            </a:r>
            <a:r>
              <a:rPr lang="en-GB" sz="1100">
                <a:solidFill>
                  <a:schemeClr val="lt1"/>
                </a:solidFill>
              </a:rPr>
              <a:t>.</a:t>
            </a:r>
            <a:br>
              <a:rPr lang="en-GB"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Split data into </a:t>
            </a:r>
            <a:r>
              <a:rPr b="1" lang="en-GB" sz="1100">
                <a:solidFill>
                  <a:schemeClr val="lt1"/>
                </a:solidFill>
              </a:rPr>
              <a:t>train (70%)</a:t>
            </a:r>
            <a:r>
              <a:rPr lang="en-GB" sz="1100">
                <a:solidFill>
                  <a:schemeClr val="lt1"/>
                </a:solidFill>
              </a:rPr>
              <a:t>, </a:t>
            </a:r>
            <a:r>
              <a:rPr b="1" lang="en-GB" sz="1100">
                <a:solidFill>
                  <a:schemeClr val="lt1"/>
                </a:solidFill>
              </a:rPr>
              <a:t>validation (15%)</a:t>
            </a:r>
            <a:r>
              <a:rPr lang="en-GB" sz="1100">
                <a:solidFill>
                  <a:schemeClr val="lt1"/>
                </a:solidFill>
              </a:rPr>
              <a:t>, and </a:t>
            </a:r>
            <a:r>
              <a:rPr b="1" lang="en-GB" sz="1100">
                <a:solidFill>
                  <a:schemeClr val="lt1"/>
                </a:solidFill>
              </a:rPr>
              <a:t>test (15%)</a:t>
            </a:r>
            <a:r>
              <a:rPr lang="en-GB" sz="1100">
                <a:solidFill>
                  <a:schemeClr val="lt1"/>
                </a:solidFill>
              </a:rPr>
              <a:t> sets.</a:t>
            </a:r>
            <a:br>
              <a:rPr lang="en-GB"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Apply </a:t>
            </a:r>
            <a:r>
              <a:rPr b="1" lang="en-GB" sz="1100">
                <a:solidFill>
                  <a:schemeClr val="lt1"/>
                </a:solidFill>
              </a:rPr>
              <a:t>z-score normalization</a:t>
            </a:r>
            <a:r>
              <a:rPr lang="en-GB" sz="1100">
                <a:solidFill>
                  <a:schemeClr val="lt1"/>
                </a:solidFill>
              </a:rPr>
              <a:t> (mean–std scaling) across all datasets.</a:t>
            </a:r>
            <a:endParaRPr sz="11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5"/>
          <p:cNvSpPr txBox="1"/>
          <p:nvPr/>
        </p:nvSpPr>
        <p:spPr>
          <a:xfrm>
            <a:off x="1037725" y="708500"/>
            <a:ext cx="7435500" cy="398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solidFill>
                <a:schemeClr val="lt1"/>
              </a:solidFill>
            </a:endParaRPr>
          </a:p>
          <a:p>
            <a:pPr indent="0" lvl="0" marL="0" rtl="0" algn="l">
              <a:lnSpc>
                <a:spcPct val="115000"/>
              </a:lnSpc>
              <a:spcBef>
                <a:spcPts val="1400"/>
              </a:spcBef>
              <a:spcAft>
                <a:spcPts val="0"/>
              </a:spcAft>
              <a:buNone/>
            </a:pPr>
            <a:r>
              <a:rPr b="1" lang="en-GB" sz="1200">
                <a:solidFill>
                  <a:schemeClr val="lt1"/>
                </a:solidFill>
              </a:rPr>
              <a:t>Module 3 – Dataset and Model Definition</a:t>
            </a:r>
            <a:endParaRPr b="1" sz="1200">
              <a:solidFill>
                <a:schemeClr val="lt1"/>
              </a:solidFill>
            </a:endParaRPr>
          </a:p>
          <a:p>
            <a:pPr indent="0" lvl="0" marL="0" rtl="0" algn="l">
              <a:lnSpc>
                <a:spcPct val="115000"/>
              </a:lnSpc>
              <a:spcBef>
                <a:spcPts val="1200"/>
              </a:spcBef>
              <a:spcAft>
                <a:spcPts val="0"/>
              </a:spcAft>
              <a:buNone/>
            </a:pPr>
            <a:r>
              <a:rPr lang="en-GB" sz="1200">
                <a:solidFill>
                  <a:schemeClr val="lt1"/>
                </a:solidFill>
              </a:rPr>
              <a:t>This module defines the data handling pipeline and the ConvLSTM-based architecture for SST forecasting.</a:t>
            </a:r>
            <a:endParaRPr sz="1200">
              <a:solidFill>
                <a:schemeClr val="lt1"/>
              </a:solidFill>
            </a:endParaRPr>
          </a:p>
          <a:p>
            <a:pPr indent="0" lvl="0" marL="0" rtl="0" algn="l">
              <a:lnSpc>
                <a:spcPct val="115000"/>
              </a:lnSpc>
              <a:spcBef>
                <a:spcPts val="1200"/>
              </a:spcBef>
              <a:spcAft>
                <a:spcPts val="0"/>
              </a:spcAft>
              <a:buNone/>
            </a:pPr>
            <a:r>
              <a:rPr b="1" lang="en-GB" sz="1200">
                <a:solidFill>
                  <a:schemeClr val="lt1"/>
                </a:solidFill>
              </a:rPr>
              <a:t>Process:</a:t>
            </a:r>
            <a:endParaRPr b="1" sz="1200">
              <a:solidFill>
                <a:schemeClr val="lt1"/>
              </a:solidFill>
            </a:endParaRPr>
          </a:p>
          <a:p>
            <a:pPr indent="-304800" lvl="0" marL="457200" rtl="0" algn="l">
              <a:lnSpc>
                <a:spcPct val="115000"/>
              </a:lnSpc>
              <a:spcBef>
                <a:spcPts val="1200"/>
              </a:spcBef>
              <a:spcAft>
                <a:spcPts val="0"/>
              </a:spcAft>
              <a:buClr>
                <a:schemeClr val="lt1"/>
              </a:buClr>
              <a:buSzPts val="1200"/>
              <a:buChar char="●"/>
            </a:pPr>
            <a:r>
              <a:rPr b="1" lang="en-GB" sz="1200">
                <a:solidFill>
                  <a:schemeClr val="lt1"/>
                </a:solidFill>
              </a:rPr>
              <a:t>SSTDataset</a:t>
            </a:r>
            <a:r>
              <a:rPr lang="en-GB" sz="1200">
                <a:solidFill>
                  <a:schemeClr val="lt1"/>
                </a:solidFill>
              </a:rPr>
              <a:t> – Converts SST arrays to PyTorch tensors and structures them for batch loading.</a:t>
            </a:r>
            <a:br>
              <a:rPr lang="en-GB"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GB" sz="1200">
                <a:solidFill>
                  <a:schemeClr val="lt1"/>
                </a:solidFill>
              </a:rPr>
              <a:t>DataLoaders</a:t>
            </a:r>
            <a:r>
              <a:rPr lang="en-GB" sz="1200">
                <a:solidFill>
                  <a:schemeClr val="lt1"/>
                </a:solidFill>
              </a:rPr>
              <a:t> – Prepares training, validation, and test batches; adjusts batch size for GPU/CPU.</a:t>
            </a:r>
            <a:br>
              <a:rPr lang="en-GB"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GB" sz="1200">
                <a:solidFill>
                  <a:schemeClr val="lt1"/>
                </a:solidFill>
              </a:rPr>
              <a:t>ConvLSTMCell</a:t>
            </a:r>
            <a:r>
              <a:rPr lang="en-GB" sz="1200">
                <a:solidFill>
                  <a:schemeClr val="lt1"/>
                </a:solidFill>
              </a:rPr>
              <a:t> – Core computational unit combining convolutional and recurrent operations.</a:t>
            </a:r>
            <a:br>
              <a:rPr lang="en-GB"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GB" sz="1200">
                <a:solidFill>
                  <a:schemeClr val="lt1"/>
                </a:solidFill>
              </a:rPr>
              <a:t>ConvLSTM</a:t>
            </a:r>
            <a:r>
              <a:rPr lang="en-GB" sz="1200">
                <a:solidFill>
                  <a:schemeClr val="lt1"/>
                </a:solidFill>
              </a:rPr>
              <a:t> – Sequentially processes time-series SST frames to learn spatial–temporal features.</a:t>
            </a:r>
            <a:br>
              <a:rPr lang="en-GB" sz="1200">
                <a:solidFill>
                  <a:schemeClr val="lt1"/>
                </a:solidFill>
              </a:rPr>
            </a:br>
            <a:endParaRPr sz="1200">
              <a:solidFill>
                <a:schemeClr val="lt1"/>
              </a:solidFill>
            </a:endParaRPr>
          </a:p>
          <a:p>
            <a:pPr indent="-304800" lvl="0" marL="457200" rtl="0" algn="l">
              <a:lnSpc>
                <a:spcPct val="115000"/>
              </a:lnSpc>
              <a:spcBef>
                <a:spcPts val="0"/>
              </a:spcBef>
              <a:spcAft>
                <a:spcPts val="0"/>
              </a:spcAft>
              <a:buClr>
                <a:schemeClr val="lt1"/>
              </a:buClr>
              <a:buSzPts val="1200"/>
              <a:buChar char="●"/>
            </a:pPr>
            <a:r>
              <a:rPr b="1" lang="en-GB" sz="1200">
                <a:solidFill>
                  <a:schemeClr val="lt1"/>
                </a:solidFill>
              </a:rPr>
              <a:t>ForecastConvLSTM</a:t>
            </a:r>
            <a:r>
              <a:rPr lang="en-GB" sz="1200">
                <a:solidFill>
                  <a:schemeClr val="lt1"/>
                </a:solidFill>
              </a:rPr>
              <a:t> – Integrates ConvLSTM encoder with a 1×1 Conv2D decoder for next-frame SST prediction.</a:t>
            </a:r>
            <a:br>
              <a:rPr lang="en-GB" sz="1200">
                <a:solidFill>
                  <a:schemeClr val="lt1"/>
                </a:solidFill>
              </a:rPr>
            </a:br>
            <a:endParaRPr sz="12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6"/>
          <p:cNvPicPr preferRelativeResize="0"/>
          <p:nvPr/>
        </p:nvPicPr>
        <p:blipFill>
          <a:blip r:embed="rId3">
            <a:alphaModFix/>
          </a:blip>
          <a:stretch>
            <a:fillRect/>
          </a:stretch>
        </p:blipFill>
        <p:spPr>
          <a:xfrm>
            <a:off x="152400" y="152400"/>
            <a:ext cx="8839199" cy="440848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0" lvl="0" marL="0" rtl="0" algn="l">
              <a:spcBef>
                <a:spcPts val="1400"/>
              </a:spcBef>
              <a:spcAft>
                <a:spcPts val="0"/>
              </a:spcAft>
              <a:buNone/>
            </a:pPr>
            <a:r>
              <a:rPr b="1" lang="en-GB">
                <a:latin typeface="Arial"/>
                <a:ea typeface="Arial"/>
                <a:cs typeface="Arial"/>
                <a:sym typeface="Arial"/>
              </a:rPr>
              <a:t>Module 4 – Training and Benchmarking (CPU vs GPU)</a:t>
            </a:r>
            <a:endParaRPr b="1">
              <a:latin typeface="Arial"/>
              <a:ea typeface="Arial"/>
              <a:cs typeface="Arial"/>
              <a:sym typeface="Arial"/>
            </a:endParaRPr>
          </a:p>
          <a:p>
            <a:pPr indent="0" lvl="0" marL="0" rtl="0" algn="l">
              <a:spcBef>
                <a:spcPts val="1200"/>
              </a:spcBef>
              <a:spcAft>
                <a:spcPts val="0"/>
              </a:spcAft>
              <a:buNone/>
            </a:pPr>
            <a:r>
              <a:rPr lang="en-GB" sz="1100">
                <a:latin typeface="Arial"/>
                <a:ea typeface="Arial"/>
                <a:cs typeface="Arial"/>
                <a:sym typeface="Arial"/>
              </a:rPr>
              <a:t>This module trains the ConvLSTM model and compares performance between CPU and GPU environments.</a:t>
            </a:r>
            <a:endParaRPr sz="1100">
              <a:latin typeface="Arial"/>
              <a:ea typeface="Arial"/>
              <a:cs typeface="Arial"/>
              <a:sym typeface="Arial"/>
            </a:endParaRPr>
          </a:p>
          <a:p>
            <a:pPr indent="0" lvl="0" marL="0" rtl="0" algn="l">
              <a:spcBef>
                <a:spcPts val="1200"/>
              </a:spcBef>
              <a:spcAft>
                <a:spcPts val="0"/>
              </a:spcAft>
              <a:buNone/>
            </a:pPr>
            <a:r>
              <a:rPr b="1" lang="en-GB" sz="1100">
                <a:latin typeface="Arial"/>
                <a:ea typeface="Arial"/>
                <a:cs typeface="Arial"/>
                <a:sym typeface="Arial"/>
              </a:rPr>
              <a:t>Process:</a:t>
            </a:r>
            <a:endParaRPr b="1" sz="1100">
              <a:latin typeface="Arial"/>
              <a:ea typeface="Arial"/>
              <a:cs typeface="Arial"/>
              <a:sym typeface="Arial"/>
            </a:endParaRPr>
          </a:p>
          <a:p>
            <a:pPr indent="-293211" lvl="0" marL="457200" rtl="0" algn="l">
              <a:spcBef>
                <a:spcPts val="1200"/>
              </a:spcBef>
              <a:spcAft>
                <a:spcPts val="0"/>
              </a:spcAft>
              <a:buClr>
                <a:schemeClr val="lt1"/>
              </a:buClr>
              <a:buSzPct val="100000"/>
              <a:buFont typeface="Arial"/>
              <a:buChar char="●"/>
            </a:pPr>
            <a:r>
              <a:rPr b="1" lang="en-GB" sz="1100">
                <a:latin typeface="Arial"/>
                <a:ea typeface="Arial"/>
                <a:cs typeface="Arial"/>
                <a:sym typeface="Arial"/>
              </a:rPr>
              <a:t>evaluate()</a:t>
            </a:r>
            <a:r>
              <a:rPr lang="en-GB" sz="1100">
                <a:latin typeface="Arial"/>
                <a:ea typeface="Arial"/>
                <a:cs typeface="Arial"/>
                <a:sym typeface="Arial"/>
              </a:rPr>
              <a:t> – Computes model RMSE on validation/test sets.</a:t>
            </a:r>
            <a:br>
              <a:rPr lang="en-GB" sz="1100">
                <a:latin typeface="Arial"/>
                <a:ea typeface="Arial"/>
                <a:cs typeface="Arial"/>
                <a:sym typeface="Arial"/>
              </a:rPr>
            </a:br>
            <a:endParaRPr sz="1100">
              <a:latin typeface="Arial"/>
              <a:ea typeface="Arial"/>
              <a:cs typeface="Arial"/>
              <a:sym typeface="Arial"/>
            </a:endParaRPr>
          </a:p>
          <a:p>
            <a:pPr indent="-293211" lvl="0" marL="457200" rtl="0" algn="l">
              <a:spcBef>
                <a:spcPts val="0"/>
              </a:spcBef>
              <a:spcAft>
                <a:spcPts val="0"/>
              </a:spcAft>
              <a:buClr>
                <a:schemeClr val="lt1"/>
              </a:buClr>
              <a:buSzPct val="100000"/>
              <a:buFont typeface="Arial"/>
              <a:buChar char="●"/>
            </a:pPr>
            <a:r>
              <a:rPr b="1" lang="en-GB" sz="1100">
                <a:latin typeface="Arial"/>
                <a:ea typeface="Arial"/>
                <a:cs typeface="Arial"/>
                <a:sym typeface="Arial"/>
              </a:rPr>
              <a:t>train_model()</a:t>
            </a:r>
            <a:r>
              <a:rPr lang="en-GB" sz="1100">
                <a:latin typeface="Arial"/>
                <a:ea typeface="Arial"/>
                <a:cs typeface="Arial"/>
                <a:sym typeface="Arial"/>
              </a:rPr>
              <a:t> – Trains model for multiple epochs using </a:t>
            </a:r>
            <a:r>
              <a:rPr b="1" lang="en-GB" sz="1100">
                <a:latin typeface="Arial"/>
                <a:ea typeface="Arial"/>
                <a:cs typeface="Arial"/>
                <a:sym typeface="Arial"/>
              </a:rPr>
              <a:t>Adam optimizer</a:t>
            </a:r>
            <a:r>
              <a:rPr lang="en-GB" sz="1100">
                <a:latin typeface="Arial"/>
                <a:ea typeface="Arial"/>
                <a:cs typeface="Arial"/>
                <a:sym typeface="Arial"/>
              </a:rPr>
              <a:t> and </a:t>
            </a:r>
            <a:r>
              <a:rPr b="1" lang="en-GB" sz="1100">
                <a:latin typeface="Arial"/>
                <a:ea typeface="Arial"/>
                <a:cs typeface="Arial"/>
                <a:sym typeface="Arial"/>
              </a:rPr>
              <a:t>mixed-precision (torch.amp)</a:t>
            </a:r>
            <a:r>
              <a:rPr lang="en-GB" sz="1100">
                <a:latin typeface="Arial"/>
                <a:ea typeface="Arial"/>
                <a:cs typeface="Arial"/>
                <a:sym typeface="Arial"/>
              </a:rPr>
              <a:t> for GPU efficiency.</a:t>
            </a:r>
            <a:br>
              <a:rPr lang="en-GB" sz="1100">
                <a:latin typeface="Arial"/>
                <a:ea typeface="Arial"/>
                <a:cs typeface="Arial"/>
                <a:sym typeface="Arial"/>
              </a:rPr>
            </a:br>
            <a:endParaRPr sz="1100">
              <a:latin typeface="Arial"/>
              <a:ea typeface="Arial"/>
              <a:cs typeface="Arial"/>
              <a:sym typeface="Arial"/>
            </a:endParaRPr>
          </a:p>
          <a:p>
            <a:pPr indent="-293211" lvl="0" marL="457200" rtl="0" algn="l">
              <a:spcBef>
                <a:spcPts val="0"/>
              </a:spcBef>
              <a:spcAft>
                <a:spcPts val="0"/>
              </a:spcAft>
              <a:buClr>
                <a:schemeClr val="lt1"/>
              </a:buClr>
              <a:buSzPct val="100000"/>
              <a:buFont typeface="Arial"/>
              <a:buChar char="●"/>
            </a:pPr>
            <a:r>
              <a:rPr lang="en-GB" sz="1100">
                <a:latin typeface="Arial"/>
                <a:ea typeface="Arial"/>
                <a:cs typeface="Arial"/>
                <a:sym typeface="Arial"/>
              </a:rPr>
              <a:t>Tracks </a:t>
            </a:r>
            <a:r>
              <a:rPr b="1" lang="en-GB" sz="1100">
                <a:latin typeface="Arial"/>
                <a:ea typeface="Arial"/>
                <a:cs typeface="Arial"/>
                <a:sym typeface="Arial"/>
              </a:rPr>
              <a:t>training loss</a:t>
            </a:r>
            <a:r>
              <a:rPr lang="en-GB" sz="1100">
                <a:latin typeface="Arial"/>
                <a:ea typeface="Arial"/>
                <a:cs typeface="Arial"/>
                <a:sym typeface="Arial"/>
              </a:rPr>
              <a:t>, </a:t>
            </a:r>
            <a:r>
              <a:rPr b="1" lang="en-GB" sz="1100">
                <a:latin typeface="Arial"/>
                <a:ea typeface="Arial"/>
                <a:cs typeface="Arial"/>
                <a:sym typeface="Arial"/>
              </a:rPr>
              <a:t>validation RMSE</a:t>
            </a:r>
            <a:r>
              <a:rPr lang="en-GB" sz="1100">
                <a:latin typeface="Arial"/>
                <a:ea typeface="Arial"/>
                <a:cs typeface="Arial"/>
                <a:sym typeface="Arial"/>
              </a:rPr>
              <a:t>, and </a:t>
            </a:r>
            <a:r>
              <a:rPr b="1" lang="en-GB" sz="1100">
                <a:latin typeface="Arial"/>
                <a:ea typeface="Arial"/>
                <a:cs typeface="Arial"/>
                <a:sym typeface="Arial"/>
              </a:rPr>
              <a:t>epoch time</a:t>
            </a:r>
            <a:r>
              <a:rPr lang="en-GB" sz="1100">
                <a:latin typeface="Arial"/>
                <a:ea typeface="Arial"/>
                <a:cs typeface="Arial"/>
                <a:sym typeface="Arial"/>
              </a:rPr>
              <a:t>.</a:t>
            </a:r>
            <a:br>
              <a:rPr lang="en-GB" sz="1100">
                <a:latin typeface="Arial"/>
                <a:ea typeface="Arial"/>
                <a:cs typeface="Arial"/>
                <a:sym typeface="Arial"/>
              </a:rPr>
            </a:br>
            <a:endParaRPr sz="1100">
              <a:latin typeface="Arial"/>
              <a:ea typeface="Arial"/>
              <a:cs typeface="Arial"/>
              <a:sym typeface="Arial"/>
            </a:endParaRPr>
          </a:p>
          <a:p>
            <a:pPr indent="-293211" lvl="0" marL="457200" rtl="0" algn="l">
              <a:spcBef>
                <a:spcPts val="0"/>
              </a:spcBef>
              <a:spcAft>
                <a:spcPts val="0"/>
              </a:spcAft>
              <a:buClr>
                <a:schemeClr val="lt1"/>
              </a:buClr>
              <a:buSzPct val="100000"/>
              <a:buFont typeface="Arial"/>
              <a:buChar char="●"/>
            </a:pPr>
            <a:r>
              <a:rPr lang="en-GB" sz="1100">
                <a:latin typeface="Arial"/>
                <a:ea typeface="Arial"/>
                <a:cs typeface="Arial"/>
                <a:sym typeface="Arial"/>
              </a:rPr>
              <a:t>Runs training separately on </a:t>
            </a:r>
            <a:r>
              <a:rPr b="1" lang="en-GB" sz="1100">
                <a:latin typeface="Arial"/>
                <a:ea typeface="Arial"/>
                <a:cs typeface="Arial"/>
                <a:sym typeface="Arial"/>
              </a:rPr>
              <a:t>CPU and GPU</a:t>
            </a:r>
            <a:r>
              <a:rPr lang="en-GB" sz="1100">
                <a:latin typeface="Arial"/>
                <a:ea typeface="Arial"/>
                <a:cs typeface="Arial"/>
                <a:sym typeface="Arial"/>
              </a:rPr>
              <a:t> to record speed and accuracy differences.</a:t>
            </a:r>
            <a:br>
              <a:rPr lang="en-GB" sz="1100">
                <a:latin typeface="Arial"/>
                <a:ea typeface="Arial"/>
                <a:cs typeface="Arial"/>
                <a:sym typeface="Arial"/>
              </a:rPr>
            </a:br>
            <a:endParaRPr sz="1100">
              <a:latin typeface="Arial"/>
              <a:ea typeface="Arial"/>
              <a:cs typeface="Arial"/>
              <a:sym typeface="Arial"/>
            </a:endParaRPr>
          </a:p>
          <a:p>
            <a:pPr indent="-293211" lvl="0" marL="457200" rtl="0" algn="l">
              <a:spcBef>
                <a:spcPts val="0"/>
              </a:spcBef>
              <a:spcAft>
                <a:spcPts val="0"/>
              </a:spcAft>
              <a:buClr>
                <a:schemeClr val="lt1"/>
              </a:buClr>
              <a:buSzPct val="100000"/>
              <a:buFont typeface="Arial"/>
              <a:buChar char="●"/>
            </a:pPr>
            <a:r>
              <a:rPr lang="en-GB" sz="1100">
                <a:latin typeface="Arial"/>
                <a:ea typeface="Arial"/>
                <a:cs typeface="Arial"/>
                <a:sym typeface="Arial"/>
              </a:rPr>
              <a:t>Stores benchmark results in a </a:t>
            </a:r>
            <a:r>
              <a:rPr b="1" lang="en-GB" sz="1100">
                <a:latin typeface="Arial"/>
                <a:ea typeface="Arial"/>
                <a:cs typeface="Arial"/>
                <a:sym typeface="Arial"/>
              </a:rPr>
              <a:t>DataFrame</a:t>
            </a:r>
            <a:r>
              <a:rPr lang="en-GB" sz="1100">
                <a:latin typeface="Arial"/>
                <a:ea typeface="Arial"/>
                <a:cs typeface="Arial"/>
                <a:sym typeface="Arial"/>
              </a:rPr>
              <a:t> for analysis and visualization.</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28"/>
          <p:cNvPicPr preferRelativeResize="0"/>
          <p:nvPr/>
        </p:nvPicPr>
        <p:blipFill>
          <a:blip r:embed="rId3">
            <a:alphaModFix/>
          </a:blip>
          <a:stretch>
            <a:fillRect/>
          </a:stretch>
        </p:blipFill>
        <p:spPr>
          <a:xfrm>
            <a:off x="152400" y="612788"/>
            <a:ext cx="8839201" cy="391791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idx="1" type="body"/>
          </p:nvPr>
        </p:nvSpPr>
        <p:spPr>
          <a:xfrm>
            <a:off x="1297500" y="451175"/>
            <a:ext cx="7572900" cy="46383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400"/>
              </a:spcBef>
              <a:spcAft>
                <a:spcPts val="0"/>
              </a:spcAft>
              <a:buNone/>
            </a:pPr>
            <a:r>
              <a:rPr b="1" lang="en-GB">
                <a:latin typeface="Arial"/>
                <a:ea typeface="Arial"/>
                <a:cs typeface="Arial"/>
                <a:sym typeface="Arial"/>
              </a:rPr>
              <a:t>Module 4a – Multi-Grid Benchmarking (CPU vs GPU)</a:t>
            </a:r>
            <a:endParaRPr b="1">
              <a:latin typeface="Arial"/>
              <a:ea typeface="Arial"/>
              <a:cs typeface="Arial"/>
              <a:sym typeface="Arial"/>
            </a:endParaRPr>
          </a:p>
          <a:p>
            <a:pPr indent="0" lvl="0" marL="0" rtl="0" algn="l">
              <a:spcBef>
                <a:spcPts val="1200"/>
              </a:spcBef>
              <a:spcAft>
                <a:spcPts val="0"/>
              </a:spcAft>
              <a:buNone/>
            </a:pPr>
            <a:r>
              <a:rPr lang="en-GB" sz="1100">
                <a:latin typeface="Arial"/>
                <a:ea typeface="Arial"/>
                <a:cs typeface="Arial"/>
                <a:sym typeface="Arial"/>
              </a:rPr>
              <a:t>This module evaluates how </a:t>
            </a:r>
            <a:r>
              <a:rPr b="1" lang="en-GB" sz="1100">
                <a:latin typeface="Arial"/>
                <a:ea typeface="Arial"/>
                <a:cs typeface="Arial"/>
                <a:sym typeface="Arial"/>
              </a:rPr>
              <a:t>spatial resolution (grid size)</a:t>
            </a:r>
            <a:r>
              <a:rPr lang="en-GB" sz="1100">
                <a:latin typeface="Arial"/>
                <a:ea typeface="Arial"/>
                <a:cs typeface="Arial"/>
                <a:sym typeface="Arial"/>
              </a:rPr>
              <a:t> affects ConvLSTM performance on both CPU and GPU setups.</a:t>
            </a:r>
            <a:endParaRPr sz="1100">
              <a:latin typeface="Arial"/>
              <a:ea typeface="Arial"/>
              <a:cs typeface="Arial"/>
              <a:sym typeface="Arial"/>
            </a:endParaRPr>
          </a:p>
          <a:p>
            <a:pPr indent="0" lvl="0" marL="0" rtl="0" algn="l">
              <a:spcBef>
                <a:spcPts val="1200"/>
              </a:spcBef>
              <a:spcAft>
                <a:spcPts val="0"/>
              </a:spcAft>
              <a:buNone/>
            </a:pPr>
            <a:r>
              <a:rPr b="1" lang="en-GB" sz="1100">
                <a:latin typeface="Arial"/>
                <a:ea typeface="Arial"/>
                <a:cs typeface="Arial"/>
                <a:sym typeface="Arial"/>
              </a:rPr>
              <a:t>Process:</a:t>
            </a:r>
            <a:endParaRPr b="1" sz="1100">
              <a:latin typeface="Arial"/>
              <a:ea typeface="Arial"/>
              <a:cs typeface="Arial"/>
              <a:sym typeface="Arial"/>
            </a:endParaRPr>
          </a:p>
          <a:p>
            <a:pPr indent="-293211" lvl="0" marL="457200" rtl="0" algn="l">
              <a:spcBef>
                <a:spcPts val="1200"/>
              </a:spcBef>
              <a:spcAft>
                <a:spcPts val="0"/>
              </a:spcAft>
              <a:buClr>
                <a:schemeClr val="lt1"/>
              </a:buClr>
              <a:buSzPct val="100000"/>
              <a:buFont typeface="Arial"/>
              <a:buChar char="●"/>
            </a:pPr>
            <a:r>
              <a:rPr lang="en-GB" sz="1100">
                <a:latin typeface="Arial"/>
                <a:ea typeface="Arial"/>
                <a:cs typeface="Arial"/>
                <a:sym typeface="Arial"/>
              </a:rPr>
              <a:t>Reuses previously defined </a:t>
            </a:r>
            <a:r>
              <a:rPr b="1" lang="en-GB" sz="1100">
                <a:latin typeface="Arial"/>
                <a:ea typeface="Arial"/>
                <a:cs typeface="Arial"/>
                <a:sym typeface="Arial"/>
              </a:rPr>
              <a:t>Dataset</a:t>
            </a:r>
            <a:r>
              <a:rPr lang="en-GB" sz="1100">
                <a:latin typeface="Arial"/>
                <a:ea typeface="Arial"/>
                <a:cs typeface="Arial"/>
                <a:sym typeface="Arial"/>
              </a:rPr>
              <a:t>, </a:t>
            </a:r>
            <a:r>
              <a:rPr b="1" lang="en-GB" sz="1100">
                <a:latin typeface="Arial"/>
                <a:ea typeface="Arial"/>
                <a:cs typeface="Arial"/>
                <a:sym typeface="Arial"/>
              </a:rPr>
              <a:t>Model</a:t>
            </a:r>
            <a:r>
              <a:rPr lang="en-GB" sz="1100">
                <a:latin typeface="Arial"/>
                <a:ea typeface="Arial"/>
                <a:cs typeface="Arial"/>
                <a:sym typeface="Arial"/>
              </a:rPr>
              <a:t>, </a:t>
            </a:r>
            <a:r>
              <a:rPr b="1" lang="en-GB" sz="1100">
                <a:latin typeface="Arial"/>
                <a:ea typeface="Arial"/>
                <a:cs typeface="Arial"/>
                <a:sym typeface="Arial"/>
              </a:rPr>
              <a:t>Training</a:t>
            </a:r>
            <a:r>
              <a:rPr lang="en-GB" sz="1100">
                <a:latin typeface="Arial"/>
                <a:ea typeface="Arial"/>
                <a:cs typeface="Arial"/>
                <a:sym typeface="Arial"/>
              </a:rPr>
              <a:t>, and </a:t>
            </a:r>
            <a:r>
              <a:rPr b="1" lang="en-GB" sz="1100">
                <a:latin typeface="Arial"/>
                <a:ea typeface="Arial"/>
                <a:cs typeface="Arial"/>
                <a:sym typeface="Arial"/>
              </a:rPr>
              <a:t>Evaluation</a:t>
            </a:r>
            <a:r>
              <a:rPr lang="en-GB" sz="1100">
                <a:latin typeface="Arial"/>
                <a:ea typeface="Arial"/>
                <a:cs typeface="Arial"/>
                <a:sym typeface="Arial"/>
              </a:rPr>
              <a:t> functions.</a:t>
            </a:r>
            <a:br>
              <a:rPr lang="en-GB" sz="1100">
                <a:latin typeface="Arial"/>
                <a:ea typeface="Arial"/>
                <a:cs typeface="Arial"/>
                <a:sym typeface="Arial"/>
              </a:rPr>
            </a:br>
            <a:endParaRPr sz="1100">
              <a:latin typeface="Arial"/>
              <a:ea typeface="Arial"/>
              <a:cs typeface="Arial"/>
              <a:sym typeface="Arial"/>
            </a:endParaRPr>
          </a:p>
          <a:p>
            <a:pPr indent="-293211" lvl="0" marL="457200" rtl="0" algn="l">
              <a:spcBef>
                <a:spcPts val="0"/>
              </a:spcBef>
              <a:spcAft>
                <a:spcPts val="0"/>
              </a:spcAft>
              <a:buClr>
                <a:schemeClr val="lt1"/>
              </a:buClr>
              <a:buSzPct val="100000"/>
              <a:buFont typeface="Arial"/>
              <a:buChar char="●"/>
            </a:pPr>
            <a:r>
              <a:rPr lang="en-GB" sz="1100">
                <a:latin typeface="Arial"/>
                <a:ea typeface="Arial"/>
                <a:cs typeface="Arial"/>
                <a:sym typeface="Arial"/>
              </a:rPr>
              <a:t>Defines multiple </a:t>
            </a:r>
            <a:r>
              <a:rPr b="1" lang="en-GB" sz="1100">
                <a:latin typeface="Arial"/>
                <a:ea typeface="Arial"/>
                <a:cs typeface="Arial"/>
                <a:sym typeface="Arial"/>
              </a:rPr>
              <a:t>grid sizes</a:t>
            </a:r>
            <a:r>
              <a:rPr lang="en-GB" sz="1100">
                <a:latin typeface="Arial"/>
                <a:ea typeface="Arial"/>
                <a:cs typeface="Arial"/>
                <a:sym typeface="Arial"/>
              </a:rPr>
              <a:t> (e.g., 16×16, 32×32, 64×64) for comparative analysis.</a:t>
            </a:r>
            <a:br>
              <a:rPr lang="en-GB" sz="1100">
                <a:latin typeface="Arial"/>
                <a:ea typeface="Arial"/>
                <a:cs typeface="Arial"/>
                <a:sym typeface="Arial"/>
              </a:rPr>
            </a:br>
            <a:endParaRPr sz="1100">
              <a:latin typeface="Arial"/>
              <a:ea typeface="Arial"/>
              <a:cs typeface="Arial"/>
              <a:sym typeface="Arial"/>
            </a:endParaRPr>
          </a:p>
          <a:p>
            <a:pPr indent="-293211" lvl="0" marL="457200" rtl="0" algn="l">
              <a:spcBef>
                <a:spcPts val="0"/>
              </a:spcBef>
              <a:spcAft>
                <a:spcPts val="0"/>
              </a:spcAft>
              <a:buClr>
                <a:schemeClr val="lt1"/>
              </a:buClr>
              <a:buSzPct val="100000"/>
              <a:buFont typeface="Arial"/>
              <a:buChar char="●"/>
            </a:pPr>
            <a:r>
              <a:rPr lang="en-GB" sz="1100">
                <a:latin typeface="Arial"/>
                <a:ea typeface="Arial"/>
                <a:cs typeface="Arial"/>
                <a:sym typeface="Arial"/>
              </a:rPr>
              <a:t>Performs </a:t>
            </a:r>
            <a:r>
              <a:rPr b="1" lang="en-GB" sz="1100">
                <a:latin typeface="Arial"/>
                <a:ea typeface="Arial"/>
                <a:cs typeface="Arial"/>
                <a:sym typeface="Arial"/>
              </a:rPr>
              <a:t>regridding</a:t>
            </a:r>
            <a:r>
              <a:rPr lang="en-GB" sz="1100">
                <a:latin typeface="Arial"/>
                <a:ea typeface="Arial"/>
                <a:cs typeface="Arial"/>
                <a:sym typeface="Arial"/>
              </a:rPr>
              <a:t>, </a:t>
            </a:r>
            <a:r>
              <a:rPr b="1" lang="en-GB" sz="1100">
                <a:latin typeface="Arial"/>
                <a:ea typeface="Arial"/>
                <a:cs typeface="Arial"/>
                <a:sym typeface="Arial"/>
              </a:rPr>
              <a:t>normalization</a:t>
            </a:r>
            <a:r>
              <a:rPr lang="en-GB" sz="1100">
                <a:latin typeface="Arial"/>
                <a:ea typeface="Arial"/>
                <a:cs typeface="Arial"/>
                <a:sym typeface="Arial"/>
              </a:rPr>
              <a:t>, and </a:t>
            </a:r>
            <a:r>
              <a:rPr b="1" lang="en-GB" sz="1100">
                <a:latin typeface="Arial"/>
                <a:ea typeface="Arial"/>
                <a:cs typeface="Arial"/>
                <a:sym typeface="Arial"/>
              </a:rPr>
              <a:t>data splitting</a:t>
            </a:r>
            <a:r>
              <a:rPr lang="en-GB" sz="1100">
                <a:latin typeface="Arial"/>
                <a:ea typeface="Arial"/>
                <a:cs typeface="Arial"/>
                <a:sym typeface="Arial"/>
              </a:rPr>
              <a:t> for each resolution.</a:t>
            </a:r>
            <a:br>
              <a:rPr lang="en-GB" sz="1100">
                <a:latin typeface="Arial"/>
                <a:ea typeface="Arial"/>
                <a:cs typeface="Arial"/>
                <a:sym typeface="Arial"/>
              </a:rPr>
            </a:br>
            <a:endParaRPr sz="1100">
              <a:latin typeface="Arial"/>
              <a:ea typeface="Arial"/>
              <a:cs typeface="Arial"/>
              <a:sym typeface="Arial"/>
            </a:endParaRPr>
          </a:p>
          <a:p>
            <a:pPr indent="-293211" lvl="0" marL="457200" rtl="0" algn="l">
              <a:spcBef>
                <a:spcPts val="0"/>
              </a:spcBef>
              <a:spcAft>
                <a:spcPts val="0"/>
              </a:spcAft>
              <a:buClr>
                <a:schemeClr val="lt1"/>
              </a:buClr>
              <a:buSzPct val="100000"/>
              <a:buFont typeface="Arial"/>
              <a:buChar char="●"/>
            </a:pPr>
            <a:r>
              <a:rPr lang="en-GB" sz="1100">
                <a:latin typeface="Arial"/>
                <a:ea typeface="Arial"/>
                <a:cs typeface="Arial"/>
                <a:sym typeface="Arial"/>
              </a:rPr>
              <a:t>Trains and tests models on both </a:t>
            </a:r>
            <a:r>
              <a:rPr b="1" lang="en-GB" sz="1100">
                <a:latin typeface="Arial"/>
                <a:ea typeface="Arial"/>
                <a:cs typeface="Arial"/>
                <a:sym typeface="Arial"/>
              </a:rPr>
              <a:t>CPU</a:t>
            </a:r>
            <a:r>
              <a:rPr lang="en-GB" sz="1100">
                <a:latin typeface="Arial"/>
                <a:ea typeface="Arial"/>
                <a:cs typeface="Arial"/>
                <a:sym typeface="Arial"/>
              </a:rPr>
              <a:t> and </a:t>
            </a:r>
            <a:r>
              <a:rPr b="1" lang="en-GB" sz="1100">
                <a:latin typeface="Arial"/>
                <a:ea typeface="Arial"/>
                <a:cs typeface="Arial"/>
                <a:sym typeface="Arial"/>
              </a:rPr>
              <a:t>GPU</a:t>
            </a:r>
            <a:r>
              <a:rPr lang="en-GB" sz="1100">
                <a:latin typeface="Arial"/>
                <a:ea typeface="Arial"/>
                <a:cs typeface="Arial"/>
                <a:sym typeface="Arial"/>
              </a:rPr>
              <a:t>, recording:</a:t>
            </a:r>
            <a:br>
              <a:rPr lang="en-GB" sz="1100">
                <a:latin typeface="Arial"/>
                <a:ea typeface="Arial"/>
                <a:cs typeface="Arial"/>
                <a:sym typeface="Arial"/>
              </a:rPr>
            </a:br>
            <a:endParaRPr sz="1100">
              <a:latin typeface="Arial"/>
              <a:ea typeface="Arial"/>
              <a:cs typeface="Arial"/>
              <a:sym typeface="Arial"/>
            </a:endParaRPr>
          </a:p>
          <a:p>
            <a:pPr indent="-293211" lvl="1" marL="914400" rtl="0" algn="l">
              <a:spcBef>
                <a:spcPts val="0"/>
              </a:spcBef>
              <a:spcAft>
                <a:spcPts val="0"/>
              </a:spcAft>
              <a:buClr>
                <a:schemeClr val="lt1"/>
              </a:buClr>
              <a:buSzPct val="100000"/>
              <a:buFont typeface="Arial"/>
              <a:buChar char="○"/>
            </a:pPr>
            <a:r>
              <a:rPr b="1" lang="en-GB">
                <a:latin typeface="Arial"/>
                <a:ea typeface="Arial"/>
                <a:cs typeface="Arial"/>
                <a:sym typeface="Arial"/>
              </a:rPr>
              <a:t>Training loss</a:t>
            </a:r>
            <a:br>
              <a:rPr b="1" lang="en-GB">
                <a:latin typeface="Arial"/>
                <a:ea typeface="Arial"/>
                <a:cs typeface="Arial"/>
                <a:sym typeface="Arial"/>
              </a:rPr>
            </a:br>
            <a:endParaRPr b="1">
              <a:latin typeface="Arial"/>
              <a:ea typeface="Arial"/>
              <a:cs typeface="Arial"/>
              <a:sym typeface="Arial"/>
            </a:endParaRPr>
          </a:p>
          <a:p>
            <a:pPr indent="-293211" lvl="1" marL="914400" rtl="0" algn="l">
              <a:spcBef>
                <a:spcPts val="0"/>
              </a:spcBef>
              <a:spcAft>
                <a:spcPts val="0"/>
              </a:spcAft>
              <a:buClr>
                <a:schemeClr val="lt1"/>
              </a:buClr>
              <a:buSzPct val="100000"/>
              <a:buFont typeface="Arial"/>
              <a:buChar char="○"/>
            </a:pPr>
            <a:r>
              <a:rPr b="1" lang="en-GB">
                <a:latin typeface="Arial"/>
                <a:ea typeface="Arial"/>
                <a:cs typeface="Arial"/>
                <a:sym typeface="Arial"/>
              </a:rPr>
              <a:t>Validation RMSE</a:t>
            </a:r>
            <a:br>
              <a:rPr b="1" lang="en-GB">
                <a:latin typeface="Arial"/>
                <a:ea typeface="Arial"/>
                <a:cs typeface="Arial"/>
                <a:sym typeface="Arial"/>
              </a:rPr>
            </a:br>
            <a:endParaRPr b="1">
              <a:latin typeface="Arial"/>
              <a:ea typeface="Arial"/>
              <a:cs typeface="Arial"/>
              <a:sym typeface="Arial"/>
            </a:endParaRPr>
          </a:p>
          <a:p>
            <a:pPr indent="-293211" lvl="1" marL="914400" rtl="0" algn="l">
              <a:spcBef>
                <a:spcPts val="0"/>
              </a:spcBef>
              <a:spcAft>
                <a:spcPts val="0"/>
              </a:spcAft>
              <a:buClr>
                <a:schemeClr val="lt1"/>
              </a:buClr>
              <a:buSzPct val="100000"/>
              <a:buFont typeface="Arial"/>
              <a:buChar char="○"/>
            </a:pPr>
            <a:r>
              <a:rPr b="1" lang="en-GB">
                <a:latin typeface="Arial"/>
                <a:ea typeface="Arial"/>
                <a:cs typeface="Arial"/>
                <a:sym typeface="Arial"/>
              </a:rPr>
              <a:t>Execution time</a:t>
            </a:r>
            <a:r>
              <a:rPr lang="en-GB">
                <a:latin typeface="Arial"/>
                <a:ea typeface="Arial"/>
                <a:cs typeface="Arial"/>
                <a:sym typeface="Arial"/>
              </a:rPr>
              <a:t> per grid and device</a:t>
            </a:r>
            <a:br>
              <a:rPr lang="en-GB">
                <a:latin typeface="Arial"/>
                <a:ea typeface="Arial"/>
                <a:cs typeface="Arial"/>
                <a:sym typeface="Arial"/>
              </a:rPr>
            </a:br>
            <a:endParaRPr>
              <a:latin typeface="Arial"/>
              <a:ea typeface="Arial"/>
              <a:cs typeface="Arial"/>
              <a:sym typeface="Arial"/>
            </a:endParaRPr>
          </a:p>
          <a:p>
            <a:pPr indent="-293211" lvl="0" marL="457200" rtl="0" algn="l">
              <a:spcBef>
                <a:spcPts val="0"/>
              </a:spcBef>
              <a:spcAft>
                <a:spcPts val="0"/>
              </a:spcAft>
              <a:buClr>
                <a:schemeClr val="lt1"/>
              </a:buClr>
              <a:buSzPct val="100000"/>
              <a:buFont typeface="Arial"/>
              <a:buChar char="●"/>
            </a:pPr>
            <a:r>
              <a:rPr lang="en-GB" sz="1100">
                <a:latin typeface="Arial"/>
                <a:ea typeface="Arial"/>
                <a:cs typeface="Arial"/>
                <a:sym typeface="Arial"/>
              </a:rPr>
              <a:t>Aggregates results into a </a:t>
            </a:r>
            <a:r>
              <a:rPr b="1" lang="en-GB" sz="1100">
                <a:latin typeface="Arial"/>
                <a:ea typeface="Arial"/>
                <a:cs typeface="Arial"/>
                <a:sym typeface="Arial"/>
              </a:rPr>
              <a:t>DataFrame</a:t>
            </a:r>
            <a:r>
              <a:rPr lang="en-GB" sz="1100">
                <a:latin typeface="Arial"/>
                <a:ea typeface="Arial"/>
                <a:cs typeface="Arial"/>
                <a:sym typeface="Arial"/>
              </a:rPr>
              <a:t> for visualization and cross-grid benchmarking.</a:t>
            </a:r>
            <a:br>
              <a:rPr lang="en-GB"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30"/>
          <p:cNvPicPr preferRelativeResize="0"/>
          <p:nvPr/>
        </p:nvPicPr>
        <p:blipFill>
          <a:blip r:embed="rId3">
            <a:alphaModFix/>
          </a:blip>
          <a:stretch>
            <a:fillRect/>
          </a:stretch>
        </p:blipFill>
        <p:spPr>
          <a:xfrm>
            <a:off x="1271325" y="152400"/>
            <a:ext cx="6101025" cy="48386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1"/>
          <p:cNvSpPr txBox="1"/>
          <p:nvPr>
            <p:ph idx="1" type="body"/>
          </p:nvPr>
        </p:nvSpPr>
        <p:spPr>
          <a:xfrm>
            <a:off x="1189200" y="150825"/>
            <a:ext cx="5380200" cy="5064900"/>
          </a:xfrm>
          <a:prstGeom prst="rect">
            <a:avLst/>
          </a:prstGeom>
        </p:spPr>
        <p:txBody>
          <a:bodyPr anchorCtr="0" anchor="t" bIns="91425" lIns="91425" spcFirstLastPara="1" rIns="91425" wrap="square" tIns="91425">
            <a:normAutofit fontScale="25000" lnSpcReduction="20000"/>
          </a:bodyPr>
          <a:lstStyle/>
          <a:p>
            <a:pPr indent="0" lvl="0" marL="0" rtl="0" algn="just">
              <a:spcBef>
                <a:spcPts val="1400"/>
              </a:spcBef>
              <a:spcAft>
                <a:spcPts val="0"/>
              </a:spcAft>
              <a:buNone/>
            </a:pPr>
            <a:r>
              <a:rPr b="1" lang="en-GB" sz="3700">
                <a:latin typeface="Arial"/>
                <a:ea typeface="Arial"/>
                <a:cs typeface="Arial"/>
                <a:sym typeface="Arial"/>
              </a:rPr>
              <a:t>Setup</a:t>
            </a:r>
            <a:endParaRPr b="1" sz="3700">
              <a:latin typeface="Arial"/>
              <a:ea typeface="Arial"/>
              <a:cs typeface="Arial"/>
              <a:sym typeface="Arial"/>
            </a:endParaRPr>
          </a:p>
          <a:p>
            <a:pPr indent="-284162" lvl="0" marL="457200" rtl="0" algn="just">
              <a:spcBef>
                <a:spcPts val="1200"/>
              </a:spcBef>
              <a:spcAft>
                <a:spcPts val="0"/>
              </a:spcAft>
              <a:buClr>
                <a:schemeClr val="lt1"/>
              </a:buClr>
              <a:buSzPct val="100000"/>
              <a:buFont typeface="Arial"/>
              <a:buChar char="●"/>
            </a:pPr>
            <a:r>
              <a:rPr b="1" lang="en-GB" sz="3500">
                <a:latin typeface="Arial"/>
                <a:ea typeface="Arial"/>
                <a:cs typeface="Arial"/>
                <a:sym typeface="Arial"/>
              </a:rPr>
              <a:t>Grid sizes tested:</a:t>
            </a:r>
            <a:r>
              <a:rPr lang="en-GB" sz="3500">
                <a:latin typeface="Arial"/>
                <a:ea typeface="Arial"/>
                <a:cs typeface="Arial"/>
                <a:sym typeface="Arial"/>
              </a:rPr>
              <a:t> 16×16, 32×32, 64×64</a:t>
            </a:r>
            <a:br>
              <a:rPr lang="en-GB" sz="3500">
                <a:latin typeface="Arial"/>
                <a:ea typeface="Arial"/>
                <a:cs typeface="Arial"/>
                <a:sym typeface="Arial"/>
              </a:rPr>
            </a:br>
            <a:endParaRPr sz="3500">
              <a:latin typeface="Arial"/>
              <a:ea typeface="Arial"/>
              <a:cs typeface="Arial"/>
              <a:sym typeface="Arial"/>
            </a:endParaRPr>
          </a:p>
          <a:p>
            <a:pPr indent="-284162" lvl="0" marL="457200" rtl="0" algn="just">
              <a:spcBef>
                <a:spcPts val="0"/>
              </a:spcBef>
              <a:spcAft>
                <a:spcPts val="0"/>
              </a:spcAft>
              <a:buClr>
                <a:schemeClr val="lt1"/>
              </a:buClr>
              <a:buSzPct val="100000"/>
              <a:buFont typeface="Arial"/>
              <a:buChar char="●"/>
            </a:pPr>
            <a:r>
              <a:rPr b="1" lang="en-GB" sz="3500">
                <a:latin typeface="Arial"/>
                <a:ea typeface="Arial"/>
                <a:cs typeface="Arial"/>
                <a:sym typeface="Arial"/>
              </a:rPr>
              <a:t>Number of ConvLSTM layers:</a:t>
            </a:r>
            <a:r>
              <a:rPr lang="en-GB" sz="3500">
                <a:latin typeface="Arial"/>
                <a:ea typeface="Arial"/>
                <a:cs typeface="Arial"/>
                <a:sym typeface="Arial"/>
              </a:rPr>
              <a:t> 1, 2, 3</a:t>
            </a:r>
            <a:br>
              <a:rPr lang="en-GB" sz="3500">
                <a:latin typeface="Arial"/>
                <a:ea typeface="Arial"/>
                <a:cs typeface="Arial"/>
                <a:sym typeface="Arial"/>
              </a:rPr>
            </a:br>
            <a:endParaRPr sz="3500">
              <a:latin typeface="Arial"/>
              <a:ea typeface="Arial"/>
              <a:cs typeface="Arial"/>
              <a:sym typeface="Arial"/>
            </a:endParaRPr>
          </a:p>
          <a:p>
            <a:pPr indent="-284162" lvl="0" marL="457200" rtl="0" algn="just">
              <a:spcBef>
                <a:spcPts val="0"/>
              </a:spcBef>
              <a:spcAft>
                <a:spcPts val="0"/>
              </a:spcAft>
              <a:buClr>
                <a:schemeClr val="lt1"/>
              </a:buClr>
              <a:buSzPct val="100000"/>
              <a:buFont typeface="Arial"/>
              <a:buChar char="●"/>
            </a:pPr>
            <a:r>
              <a:rPr lang="en-GB" sz="3500">
                <a:latin typeface="Arial"/>
                <a:ea typeface="Arial"/>
                <a:cs typeface="Arial"/>
                <a:sym typeface="Arial"/>
              </a:rPr>
              <a:t>Each combination trained for </a:t>
            </a:r>
            <a:r>
              <a:rPr b="1" lang="en-GB" sz="3500">
                <a:latin typeface="Arial"/>
                <a:ea typeface="Arial"/>
                <a:cs typeface="Arial"/>
                <a:sym typeface="Arial"/>
              </a:rPr>
              <a:t>15 epochs</a:t>
            </a:r>
            <a:r>
              <a:rPr lang="en-GB" sz="3500">
                <a:latin typeface="Arial"/>
                <a:ea typeface="Arial"/>
                <a:cs typeface="Arial"/>
                <a:sym typeface="Arial"/>
              </a:rPr>
              <a:t> on </a:t>
            </a:r>
            <a:r>
              <a:rPr b="1" lang="en-GB" sz="3500">
                <a:latin typeface="Arial"/>
                <a:ea typeface="Arial"/>
                <a:cs typeface="Arial"/>
                <a:sym typeface="Arial"/>
              </a:rPr>
              <a:t>CPU</a:t>
            </a:r>
            <a:r>
              <a:rPr lang="en-GB" sz="3500">
                <a:latin typeface="Arial"/>
                <a:ea typeface="Arial"/>
                <a:cs typeface="Arial"/>
                <a:sym typeface="Arial"/>
              </a:rPr>
              <a:t> and </a:t>
            </a:r>
            <a:r>
              <a:rPr b="1" lang="en-GB" sz="3500">
                <a:latin typeface="Arial"/>
                <a:ea typeface="Arial"/>
                <a:cs typeface="Arial"/>
                <a:sym typeface="Arial"/>
              </a:rPr>
              <a:t>GPU</a:t>
            </a:r>
            <a:r>
              <a:rPr lang="en-GB" sz="3500">
                <a:latin typeface="Arial"/>
                <a:ea typeface="Arial"/>
                <a:cs typeface="Arial"/>
                <a:sym typeface="Arial"/>
              </a:rPr>
              <a:t>.</a:t>
            </a:r>
            <a:br>
              <a:rPr lang="en-GB" sz="3500">
                <a:latin typeface="Arial"/>
                <a:ea typeface="Arial"/>
                <a:cs typeface="Arial"/>
                <a:sym typeface="Arial"/>
              </a:rPr>
            </a:br>
            <a:endParaRPr sz="3500">
              <a:latin typeface="Arial"/>
              <a:ea typeface="Arial"/>
              <a:cs typeface="Arial"/>
              <a:sym typeface="Arial"/>
            </a:endParaRPr>
          </a:p>
          <a:p>
            <a:pPr indent="-284162" lvl="0" marL="457200" rtl="0" algn="just">
              <a:spcBef>
                <a:spcPts val="0"/>
              </a:spcBef>
              <a:spcAft>
                <a:spcPts val="0"/>
              </a:spcAft>
              <a:buClr>
                <a:schemeClr val="lt1"/>
              </a:buClr>
              <a:buSzPct val="100000"/>
              <a:buFont typeface="Arial"/>
              <a:buChar char="●"/>
            </a:pPr>
            <a:r>
              <a:rPr lang="en-GB" sz="3500">
                <a:latin typeface="Arial"/>
                <a:ea typeface="Arial"/>
                <a:cs typeface="Arial"/>
                <a:sym typeface="Arial"/>
              </a:rPr>
              <a:t>Evaluation metric: </a:t>
            </a:r>
            <a:r>
              <a:rPr b="1" lang="en-GB" sz="3500">
                <a:latin typeface="Arial"/>
                <a:ea typeface="Arial"/>
                <a:cs typeface="Arial"/>
                <a:sym typeface="Arial"/>
              </a:rPr>
              <a:t>Root Mean Squared Error (RMSE)</a:t>
            </a:r>
            <a:r>
              <a:rPr lang="en-GB" sz="3500">
                <a:latin typeface="Arial"/>
                <a:ea typeface="Arial"/>
                <a:cs typeface="Arial"/>
                <a:sym typeface="Arial"/>
              </a:rPr>
              <a:t> and </a:t>
            </a:r>
            <a:r>
              <a:rPr b="1" lang="en-GB" sz="3500">
                <a:latin typeface="Arial"/>
                <a:ea typeface="Arial"/>
                <a:cs typeface="Arial"/>
                <a:sym typeface="Arial"/>
              </a:rPr>
              <a:t>Total Training Time (s)</a:t>
            </a:r>
            <a:r>
              <a:rPr lang="en-GB" sz="3500">
                <a:latin typeface="Arial"/>
                <a:ea typeface="Arial"/>
                <a:cs typeface="Arial"/>
                <a:sym typeface="Arial"/>
              </a:rPr>
              <a:t>.</a:t>
            </a:r>
            <a:br>
              <a:rPr lang="en-GB" sz="3500">
                <a:latin typeface="Arial"/>
                <a:ea typeface="Arial"/>
                <a:cs typeface="Arial"/>
                <a:sym typeface="Arial"/>
              </a:rPr>
            </a:br>
            <a:endParaRPr sz="3500">
              <a:latin typeface="Arial"/>
              <a:ea typeface="Arial"/>
              <a:cs typeface="Arial"/>
              <a:sym typeface="Arial"/>
            </a:endParaRPr>
          </a:p>
          <a:p>
            <a:pPr indent="0" lvl="0" marL="0" rtl="0" algn="just">
              <a:spcBef>
                <a:spcPts val="1200"/>
              </a:spcBef>
              <a:spcAft>
                <a:spcPts val="0"/>
              </a:spcAft>
              <a:buNone/>
            </a:pPr>
            <a:r>
              <a:t/>
            </a:r>
            <a:endParaRPr sz="3500">
              <a:latin typeface="Arial"/>
              <a:ea typeface="Arial"/>
              <a:cs typeface="Arial"/>
              <a:sym typeface="Arial"/>
            </a:endParaRPr>
          </a:p>
          <a:p>
            <a:pPr indent="0" lvl="0" marL="0" rtl="0" algn="just">
              <a:spcBef>
                <a:spcPts val="1400"/>
              </a:spcBef>
              <a:spcAft>
                <a:spcPts val="0"/>
              </a:spcAft>
              <a:buNone/>
            </a:pPr>
            <a:r>
              <a:rPr b="1" lang="en-GB" sz="3700">
                <a:latin typeface="Arial"/>
                <a:ea typeface="Arial"/>
                <a:cs typeface="Arial"/>
                <a:sym typeface="Arial"/>
              </a:rPr>
              <a:t>Process</a:t>
            </a:r>
            <a:endParaRPr b="1" sz="3700">
              <a:latin typeface="Arial"/>
              <a:ea typeface="Arial"/>
              <a:cs typeface="Arial"/>
              <a:sym typeface="Arial"/>
            </a:endParaRPr>
          </a:p>
          <a:p>
            <a:pPr indent="-284162" lvl="0" marL="457200" rtl="0" algn="just">
              <a:spcBef>
                <a:spcPts val="1200"/>
              </a:spcBef>
              <a:spcAft>
                <a:spcPts val="0"/>
              </a:spcAft>
              <a:buClr>
                <a:schemeClr val="lt1"/>
              </a:buClr>
              <a:buSzPct val="100000"/>
              <a:buFont typeface="Arial"/>
              <a:buAutoNum type="arabicPeriod"/>
            </a:pPr>
            <a:r>
              <a:rPr lang="en-GB" sz="3500">
                <a:latin typeface="Arial"/>
                <a:ea typeface="Arial"/>
                <a:cs typeface="Arial"/>
                <a:sym typeface="Arial"/>
              </a:rPr>
              <a:t>Interpolate SST data to each grid resolution.</a:t>
            </a:r>
            <a:br>
              <a:rPr lang="en-GB" sz="3500">
                <a:latin typeface="Arial"/>
                <a:ea typeface="Arial"/>
                <a:cs typeface="Arial"/>
                <a:sym typeface="Arial"/>
              </a:rPr>
            </a:br>
            <a:endParaRPr sz="3500">
              <a:latin typeface="Arial"/>
              <a:ea typeface="Arial"/>
              <a:cs typeface="Arial"/>
              <a:sym typeface="Arial"/>
            </a:endParaRPr>
          </a:p>
          <a:p>
            <a:pPr indent="-284162" lvl="0" marL="457200" rtl="0" algn="just">
              <a:spcBef>
                <a:spcPts val="0"/>
              </a:spcBef>
              <a:spcAft>
                <a:spcPts val="0"/>
              </a:spcAft>
              <a:buClr>
                <a:schemeClr val="lt1"/>
              </a:buClr>
              <a:buSzPct val="100000"/>
              <a:buFont typeface="Arial"/>
              <a:buAutoNum type="arabicPeriod"/>
            </a:pPr>
            <a:r>
              <a:rPr lang="en-GB" sz="3500">
                <a:latin typeface="Arial"/>
                <a:ea typeface="Arial"/>
                <a:cs typeface="Arial"/>
                <a:sym typeface="Arial"/>
              </a:rPr>
              <a:t>Construct ConvLSTM models with varying depth (1–3 layers).</a:t>
            </a:r>
            <a:br>
              <a:rPr lang="en-GB" sz="3500">
                <a:latin typeface="Arial"/>
                <a:ea typeface="Arial"/>
                <a:cs typeface="Arial"/>
                <a:sym typeface="Arial"/>
              </a:rPr>
            </a:br>
            <a:endParaRPr sz="3500">
              <a:latin typeface="Arial"/>
              <a:ea typeface="Arial"/>
              <a:cs typeface="Arial"/>
              <a:sym typeface="Arial"/>
            </a:endParaRPr>
          </a:p>
          <a:p>
            <a:pPr indent="-284162" lvl="0" marL="457200" rtl="0" algn="just">
              <a:spcBef>
                <a:spcPts val="0"/>
              </a:spcBef>
              <a:spcAft>
                <a:spcPts val="0"/>
              </a:spcAft>
              <a:buClr>
                <a:schemeClr val="lt1"/>
              </a:buClr>
              <a:buSzPct val="100000"/>
              <a:buFont typeface="Arial"/>
              <a:buAutoNum type="arabicPeriod"/>
            </a:pPr>
            <a:r>
              <a:rPr lang="en-GB" sz="3500">
                <a:latin typeface="Arial"/>
                <a:ea typeface="Arial"/>
                <a:cs typeface="Arial"/>
                <a:sym typeface="Arial"/>
              </a:rPr>
              <a:t>Train and validate each model configuration.</a:t>
            </a:r>
            <a:br>
              <a:rPr lang="en-GB" sz="3500">
                <a:latin typeface="Arial"/>
                <a:ea typeface="Arial"/>
                <a:cs typeface="Arial"/>
                <a:sym typeface="Arial"/>
              </a:rPr>
            </a:br>
            <a:endParaRPr sz="3500">
              <a:latin typeface="Arial"/>
              <a:ea typeface="Arial"/>
              <a:cs typeface="Arial"/>
              <a:sym typeface="Arial"/>
            </a:endParaRPr>
          </a:p>
          <a:p>
            <a:pPr indent="-284162" lvl="0" marL="457200" rtl="0" algn="just">
              <a:spcBef>
                <a:spcPts val="0"/>
              </a:spcBef>
              <a:spcAft>
                <a:spcPts val="0"/>
              </a:spcAft>
              <a:buClr>
                <a:schemeClr val="lt1"/>
              </a:buClr>
              <a:buSzPct val="100000"/>
              <a:buFont typeface="Arial"/>
              <a:buAutoNum type="arabicPeriod"/>
            </a:pPr>
            <a:r>
              <a:rPr lang="en-GB" sz="3500">
                <a:latin typeface="Arial"/>
                <a:ea typeface="Arial"/>
                <a:cs typeface="Arial"/>
                <a:sym typeface="Arial"/>
              </a:rPr>
              <a:t>Compare </a:t>
            </a:r>
            <a:r>
              <a:rPr b="1" lang="en-GB" sz="3500">
                <a:latin typeface="Arial"/>
                <a:ea typeface="Arial"/>
                <a:cs typeface="Arial"/>
                <a:sym typeface="Arial"/>
              </a:rPr>
              <a:t>RMSE vs. training time</a:t>
            </a:r>
            <a:r>
              <a:rPr lang="en-GB" sz="3500">
                <a:latin typeface="Arial"/>
                <a:ea typeface="Arial"/>
                <a:cs typeface="Arial"/>
                <a:sym typeface="Arial"/>
              </a:rPr>
              <a:t> across configurations.</a:t>
            </a:r>
            <a:br>
              <a:rPr lang="en-GB" sz="3500">
                <a:latin typeface="Arial"/>
                <a:ea typeface="Arial"/>
                <a:cs typeface="Arial"/>
                <a:sym typeface="Arial"/>
              </a:rPr>
            </a:br>
            <a:endParaRPr sz="3500">
              <a:latin typeface="Arial"/>
              <a:ea typeface="Arial"/>
              <a:cs typeface="Arial"/>
              <a:sym typeface="Arial"/>
            </a:endParaRPr>
          </a:p>
          <a:p>
            <a:pPr indent="0" lvl="0" marL="0" rtl="0" algn="just">
              <a:spcBef>
                <a:spcPts val="1200"/>
              </a:spcBef>
              <a:spcAft>
                <a:spcPts val="0"/>
              </a:spcAft>
              <a:buNone/>
            </a:pPr>
            <a:r>
              <a:t/>
            </a:r>
            <a:endParaRPr sz="3500">
              <a:latin typeface="Arial"/>
              <a:ea typeface="Arial"/>
              <a:cs typeface="Arial"/>
              <a:sym typeface="Arial"/>
            </a:endParaRPr>
          </a:p>
          <a:p>
            <a:pPr indent="0" lvl="0" marL="0" rtl="0" algn="just">
              <a:spcBef>
                <a:spcPts val="1400"/>
              </a:spcBef>
              <a:spcAft>
                <a:spcPts val="0"/>
              </a:spcAft>
              <a:buNone/>
            </a:pPr>
            <a:r>
              <a:rPr b="1" lang="en-GB" sz="3700">
                <a:latin typeface="Arial"/>
                <a:ea typeface="Arial"/>
                <a:cs typeface="Arial"/>
                <a:sym typeface="Arial"/>
              </a:rPr>
              <a:t>Insights</a:t>
            </a:r>
            <a:endParaRPr b="1" sz="3700">
              <a:latin typeface="Arial"/>
              <a:ea typeface="Arial"/>
              <a:cs typeface="Arial"/>
              <a:sym typeface="Arial"/>
            </a:endParaRPr>
          </a:p>
          <a:p>
            <a:pPr indent="-284162" lvl="0" marL="457200" rtl="0" algn="just">
              <a:spcBef>
                <a:spcPts val="1200"/>
              </a:spcBef>
              <a:spcAft>
                <a:spcPts val="0"/>
              </a:spcAft>
              <a:buClr>
                <a:schemeClr val="lt1"/>
              </a:buClr>
              <a:buSzPct val="100000"/>
              <a:buFont typeface="Arial"/>
              <a:buChar char="●"/>
            </a:pPr>
            <a:r>
              <a:rPr b="1" lang="en-GB" sz="3500">
                <a:latin typeface="Arial"/>
                <a:ea typeface="Arial"/>
                <a:cs typeface="Arial"/>
                <a:sym typeface="Arial"/>
              </a:rPr>
              <a:t>Higher grid size</a:t>
            </a:r>
            <a:r>
              <a:rPr lang="en-GB" sz="3500">
                <a:latin typeface="Arial"/>
                <a:ea typeface="Arial"/>
                <a:cs typeface="Arial"/>
                <a:sym typeface="Arial"/>
              </a:rPr>
              <a:t> → better spatial representation, higher computational cost.</a:t>
            </a:r>
            <a:br>
              <a:rPr lang="en-GB" sz="3500">
                <a:latin typeface="Arial"/>
                <a:ea typeface="Arial"/>
                <a:cs typeface="Arial"/>
                <a:sym typeface="Arial"/>
              </a:rPr>
            </a:br>
            <a:endParaRPr sz="3500">
              <a:latin typeface="Arial"/>
              <a:ea typeface="Arial"/>
              <a:cs typeface="Arial"/>
              <a:sym typeface="Arial"/>
            </a:endParaRPr>
          </a:p>
          <a:p>
            <a:pPr indent="-284162" lvl="0" marL="457200" rtl="0" algn="just">
              <a:spcBef>
                <a:spcPts val="0"/>
              </a:spcBef>
              <a:spcAft>
                <a:spcPts val="0"/>
              </a:spcAft>
              <a:buClr>
                <a:schemeClr val="lt1"/>
              </a:buClr>
              <a:buSzPct val="100000"/>
              <a:buFont typeface="Arial"/>
              <a:buChar char="●"/>
            </a:pPr>
            <a:r>
              <a:rPr b="1" lang="en-GB" sz="3500">
                <a:latin typeface="Arial"/>
                <a:ea typeface="Arial"/>
                <a:cs typeface="Arial"/>
                <a:sym typeface="Arial"/>
              </a:rPr>
              <a:t>More layers</a:t>
            </a:r>
            <a:r>
              <a:rPr lang="en-GB" sz="3500">
                <a:latin typeface="Arial"/>
                <a:ea typeface="Arial"/>
                <a:cs typeface="Arial"/>
                <a:sym typeface="Arial"/>
              </a:rPr>
              <a:t> → improved learning of temporal features but slower training.</a:t>
            </a:r>
            <a:br>
              <a:rPr lang="en-GB" sz="3500">
                <a:latin typeface="Arial"/>
                <a:ea typeface="Arial"/>
                <a:cs typeface="Arial"/>
                <a:sym typeface="Arial"/>
              </a:rPr>
            </a:br>
            <a:endParaRPr sz="3500">
              <a:latin typeface="Arial"/>
              <a:ea typeface="Arial"/>
              <a:cs typeface="Arial"/>
              <a:sym typeface="Arial"/>
            </a:endParaRPr>
          </a:p>
          <a:p>
            <a:pPr indent="-284162" lvl="0" marL="457200" rtl="0" algn="just">
              <a:spcBef>
                <a:spcPts val="0"/>
              </a:spcBef>
              <a:spcAft>
                <a:spcPts val="0"/>
              </a:spcAft>
              <a:buClr>
                <a:schemeClr val="lt1"/>
              </a:buClr>
              <a:buSzPct val="100000"/>
              <a:buFont typeface="Arial"/>
              <a:buChar char="●"/>
            </a:pPr>
            <a:r>
              <a:rPr b="1" lang="en-GB" sz="3500">
                <a:latin typeface="Arial"/>
                <a:ea typeface="Arial"/>
                <a:cs typeface="Arial"/>
                <a:sym typeface="Arial"/>
              </a:rPr>
              <a:t>GPU</a:t>
            </a:r>
            <a:r>
              <a:rPr lang="en-GB" sz="3500">
                <a:latin typeface="Arial"/>
                <a:ea typeface="Arial"/>
                <a:cs typeface="Arial"/>
                <a:sym typeface="Arial"/>
              </a:rPr>
              <a:t> → drastically faster training with similar RMSE to CPU.</a:t>
            </a:r>
            <a:br>
              <a:rPr lang="en-GB" sz="3500">
                <a:latin typeface="Arial"/>
                <a:ea typeface="Arial"/>
                <a:cs typeface="Arial"/>
                <a:sym typeface="Arial"/>
              </a:rPr>
            </a:br>
            <a:endParaRPr sz="3500">
              <a:latin typeface="Arial"/>
              <a:ea typeface="Arial"/>
              <a:cs typeface="Arial"/>
              <a:sym typeface="Arial"/>
            </a:endParaRPr>
          </a:p>
          <a:p>
            <a:pPr indent="-246062" lvl="0" marL="457200" rtl="0" algn="just">
              <a:spcBef>
                <a:spcPts val="0"/>
              </a:spcBef>
              <a:spcAft>
                <a:spcPts val="0"/>
              </a:spcAft>
              <a:buClr>
                <a:schemeClr val="lt1"/>
              </a:buClr>
              <a:buSzPct val="31428"/>
              <a:buFont typeface="Arial"/>
              <a:buChar char="●"/>
            </a:pPr>
            <a:r>
              <a:rPr lang="en-GB" sz="3500">
                <a:latin typeface="Arial"/>
                <a:ea typeface="Arial"/>
                <a:cs typeface="Arial"/>
                <a:sym typeface="Arial"/>
              </a:rPr>
              <a:t>Results stored in </a:t>
            </a:r>
            <a:r>
              <a:rPr b="1" lang="en-GB" sz="3500">
                <a:latin typeface="Roboto Mono"/>
                <a:ea typeface="Roboto Mono"/>
                <a:cs typeface="Roboto Mono"/>
                <a:sym typeface="Roboto Mono"/>
              </a:rPr>
              <a:t>multi_grid_layer_results_df</a:t>
            </a:r>
            <a:r>
              <a:rPr lang="en-GB" sz="3500">
                <a:latin typeface="Arial"/>
                <a:ea typeface="Arial"/>
                <a:cs typeface="Arial"/>
                <a:sym typeface="Arial"/>
              </a:rPr>
              <a:t> for analysis.</a:t>
            </a:r>
            <a:br>
              <a:rPr lang="en-GB" sz="1100">
                <a:latin typeface="Arial"/>
                <a:ea typeface="Arial"/>
                <a:cs typeface="Arial"/>
                <a:sym typeface="Arial"/>
              </a:rPr>
            </a:br>
            <a:endParaRPr sz="1100">
              <a:latin typeface="Arial"/>
              <a:ea typeface="Arial"/>
              <a:cs typeface="Arial"/>
              <a:sym typeface="Arial"/>
            </a:endParaRPr>
          </a:p>
          <a:p>
            <a:pPr indent="0" lvl="0" marL="0" rtl="0" algn="just">
              <a:spcBef>
                <a:spcPts val="1200"/>
              </a:spcBef>
              <a:spcAft>
                <a:spcPts val="1200"/>
              </a:spcAft>
              <a:buNone/>
            </a:pPr>
            <a:r>
              <a:t/>
            </a:r>
            <a:endParaRPr/>
          </a:p>
        </p:txBody>
      </p:sp>
      <p:pic>
        <p:nvPicPr>
          <p:cNvPr id="236" name="Google Shape;236;p31"/>
          <p:cNvPicPr preferRelativeResize="0"/>
          <p:nvPr/>
        </p:nvPicPr>
        <p:blipFill>
          <a:blip r:embed="rId3">
            <a:alphaModFix/>
          </a:blip>
          <a:stretch>
            <a:fillRect/>
          </a:stretch>
        </p:blipFill>
        <p:spPr>
          <a:xfrm>
            <a:off x="4999135" y="1492291"/>
            <a:ext cx="3708876" cy="2425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IMPLEMENTATION</a:t>
            </a:r>
            <a:endParaRPr/>
          </a:p>
        </p:txBody>
      </p:sp>
      <p:graphicFrame>
        <p:nvGraphicFramePr>
          <p:cNvPr id="242" name="Google Shape;242;p32"/>
          <p:cNvGraphicFramePr/>
          <p:nvPr/>
        </p:nvGraphicFramePr>
        <p:xfrm>
          <a:off x="394388" y="1549900"/>
          <a:ext cx="3000000" cy="3000000"/>
        </p:xfrm>
        <a:graphic>
          <a:graphicData uri="http://schemas.openxmlformats.org/drawingml/2006/table">
            <a:tbl>
              <a:tblPr>
                <a:noFill/>
                <a:tableStyleId>{4A3FFFFF-44FA-4FFD-9679-BF9448AB7191}</a:tableStyleId>
              </a:tblPr>
              <a:tblGrid>
                <a:gridCol w="1266825"/>
                <a:gridCol w="3219450"/>
                <a:gridCol w="3771900"/>
              </a:tblGrid>
              <a:tr h="190500">
                <a:tc>
                  <a:txBody>
                    <a:bodyPr/>
                    <a:lstStyle/>
                    <a:p>
                      <a:pPr indent="0" lvl="0" marL="0" rtl="0" algn="l">
                        <a:lnSpc>
                          <a:spcPct val="115000"/>
                        </a:lnSpc>
                        <a:spcBef>
                          <a:spcPts val="0"/>
                        </a:spcBef>
                        <a:spcAft>
                          <a:spcPts val="0"/>
                        </a:spcAft>
                        <a:buNone/>
                      </a:pPr>
                      <a:r>
                        <a:rPr b="1" lang="en-GB">
                          <a:solidFill>
                            <a:schemeClr val="lt1"/>
                          </a:solidFill>
                        </a:rPr>
                        <a:t>Category</a:t>
                      </a:r>
                      <a:endParaRPr b="1">
                        <a:solidFill>
                          <a:schemeClr val="lt1"/>
                        </a:solidFill>
                      </a:endParaRPr>
                    </a:p>
                  </a:txBody>
                  <a:tcPr marT="91425" marB="91425" marR="91425" marL="91425"/>
                </a:tc>
                <a:tc>
                  <a:txBody>
                    <a:bodyPr/>
                    <a:lstStyle/>
                    <a:p>
                      <a:pPr indent="0" lvl="0" marL="0" rtl="0" algn="l">
                        <a:lnSpc>
                          <a:spcPct val="115000"/>
                        </a:lnSpc>
                        <a:spcBef>
                          <a:spcPts val="0"/>
                        </a:spcBef>
                        <a:spcAft>
                          <a:spcPts val="0"/>
                        </a:spcAft>
                        <a:buNone/>
                      </a:pPr>
                      <a:r>
                        <a:rPr b="1" lang="en-GB">
                          <a:solidFill>
                            <a:schemeClr val="lt1"/>
                          </a:solidFill>
                        </a:rPr>
                        <a:t>Tools / Libraries</a:t>
                      </a:r>
                      <a:endParaRPr b="1">
                        <a:solidFill>
                          <a:schemeClr val="lt1"/>
                        </a:solidFill>
                      </a:endParaRPr>
                    </a:p>
                  </a:txBody>
                  <a:tcPr marT="91425" marB="91425" marR="91425" marL="91425"/>
                </a:tc>
                <a:tc>
                  <a:txBody>
                    <a:bodyPr/>
                    <a:lstStyle/>
                    <a:p>
                      <a:pPr indent="0" lvl="0" marL="0" rtl="0" algn="l">
                        <a:lnSpc>
                          <a:spcPct val="115000"/>
                        </a:lnSpc>
                        <a:spcBef>
                          <a:spcPts val="0"/>
                        </a:spcBef>
                        <a:spcAft>
                          <a:spcPts val="0"/>
                        </a:spcAft>
                        <a:buNone/>
                      </a:pPr>
                      <a:r>
                        <a:rPr b="1" lang="en-GB">
                          <a:solidFill>
                            <a:schemeClr val="lt1"/>
                          </a:solidFill>
                        </a:rPr>
                        <a:t>Purpose</a:t>
                      </a:r>
                      <a:endParaRPr b="1">
                        <a:solidFill>
                          <a:schemeClr val="lt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lt1"/>
                          </a:solidFill>
                        </a:rPr>
                        <a:t>Programming</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Python 3.10 +</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Core development language</a:t>
                      </a:r>
                      <a:endParaRPr sz="1100">
                        <a:solidFill>
                          <a:schemeClr val="lt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lt1"/>
                          </a:solidFill>
                        </a:rPr>
                        <a:t>Deep Learning</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PyTorch (with CUDA, cuDNN, AMP)</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Building and training the ConvLSTM model</a:t>
                      </a:r>
                      <a:endParaRPr sz="1100">
                        <a:solidFill>
                          <a:schemeClr val="lt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lt1"/>
                          </a:solidFill>
                        </a:rPr>
                        <a:t>Data Handling</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xarray, netCDF4, NumPy, pandas</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Reading and preprocessing Copernicus NetCDF SST datasets</a:t>
                      </a:r>
                      <a:endParaRPr sz="1100">
                        <a:solidFill>
                          <a:schemeClr val="lt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lt1"/>
                          </a:solidFill>
                        </a:rPr>
                        <a:t>Visualization</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matplotlib, seaborn</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Plotting SST forecasts and performance metrics</a:t>
                      </a:r>
                      <a:endParaRPr sz="1100">
                        <a:solidFill>
                          <a:schemeClr val="lt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lt1"/>
                          </a:solidFill>
                        </a:rPr>
                        <a:t>Performance Tuning</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CUDA, Automatic Mixed Precision (AMP)</a:t>
                      </a:r>
                      <a:endParaRPr sz="1100">
                        <a:solidFill>
                          <a:schemeClr val="lt1"/>
                        </a:solidFill>
                      </a:endParaRPr>
                    </a:p>
                  </a:txBody>
                  <a:tcPr marT="91425" marB="91425" marR="91425" marL="91425"/>
                </a:tc>
                <a:tc>
                  <a:txBody>
                    <a:bodyPr/>
                    <a:lstStyle/>
                    <a:p>
                      <a:pPr indent="0" lvl="0" marL="0" rtl="0" algn="l">
                        <a:spcBef>
                          <a:spcPts val="0"/>
                        </a:spcBef>
                        <a:spcAft>
                          <a:spcPts val="0"/>
                        </a:spcAft>
                        <a:buNone/>
                      </a:pPr>
                      <a:r>
                        <a:rPr lang="en-GB" sz="1100">
                          <a:solidFill>
                            <a:schemeClr val="lt1"/>
                          </a:solidFill>
                        </a:rPr>
                        <a:t>GPU optimization and memory efficiency</a:t>
                      </a:r>
                      <a:endParaRPr sz="1100">
                        <a:solidFill>
                          <a:schemeClr val="lt1"/>
                        </a:solidFill>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33"/>
          <p:cNvPicPr preferRelativeResize="0"/>
          <p:nvPr/>
        </p:nvPicPr>
        <p:blipFill>
          <a:blip r:embed="rId3">
            <a:alphaModFix/>
          </a:blip>
          <a:stretch>
            <a:fillRect/>
          </a:stretch>
        </p:blipFill>
        <p:spPr>
          <a:xfrm>
            <a:off x="2496050" y="49650"/>
            <a:ext cx="4151900" cy="504422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Results and Discussion</a:t>
            </a:r>
            <a:endParaRPr/>
          </a:p>
        </p:txBody>
      </p:sp>
      <p:pic>
        <p:nvPicPr>
          <p:cNvPr id="253" name="Google Shape;253;p34"/>
          <p:cNvPicPr preferRelativeResize="0"/>
          <p:nvPr/>
        </p:nvPicPr>
        <p:blipFill>
          <a:blip r:embed="rId3">
            <a:alphaModFix/>
          </a:blip>
          <a:stretch>
            <a:fillRect/>
          </a:stretch>
        </p:blipFill>
        <p:spPr>
          <a:xfrm>
            <a:off x="4167950" y="1099300"/>
            <a:ext cx="4586050" cy="3371850"/>
          </a:xfrm>
          <a:prstGeom prst="rect">
            <a:avLst/>
          </a:prstGeom>
          <a:noFill/>
          <a:ln>
            <a:noFill/>
          </a:ln>
        </p:spPr>
      </p:pic>
      <p:pic>
        <p:nvPicPr>
          <p:cNvPr id="254" name="Google Shape;254;p34"/>
          <p:cNvPicPr preferRelativeResize="0"/>
          <p:nvPr/>
        </p:nvPicPr>
        <p:blipFill>
          <a:blip r:embed="rId4">
            <a:alphaModFix/>
          </a:blip>
          <a:stretch>
            <a:fillRect/>
          </a:stretch>
        </p:blipFill>
        <p:spPr>
          <a:xfrm>
            <a:off x="414100" y="1099300"/>
            <a:ext cx="3352800" cy="3371850"/>
          </a:xfrm>
          <a:prstGeom prst="rect">
            <a:avLst/>
          </a:prstGeom>
          <a:noFill/>
          <a:ln>
            <a:noFill/>
          </a:ln>
        </p:spPr>
      </p:pic>
      <p:sp>
        <p:nvSpPr>
          <p:cNvPr id="255" name="Google Shape;255;p34"/>
          <p:cNvSpPr txBox="1"/>
          <p:nvPr/>
        </p:nvSpPr>
        <p:spPr>
          <a:xfrm>
            <a:off x="414100" y="4471150"/>
            <a:ext cx="7679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1F1F1F"/>
                </a:solidFill>
                <a:highlight>
                  <a:srgbClr val="FFFFFF"/>
                </a:highlight>
              </a:rPr>
              <a:t>This plot shows how the training loss decreases over epochs for both CPU and GPU. Ideally, you want to see the loss decrease steadily, indicating that the model is learning.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61" name="Google Shape;261;p3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0000" lnSpcReduction="20000"/>
          </a:bodyPr>
          <a:lstStyle/>
          <a:p>
            <a:pPr indent="0" lvl="0" marL="0" rtl="0" algn="l">
              <a:spcBef>
                <a:spcPts val="1400"/>
              </a:spcBef>
              <a:spcAft>
                <a:spcPts val="0"/>
              </a:spcAft>
              <a:buNone/>
            </a:pPr>
            <a:r>
              <a:rPr b="1" lang="en-GB">
                <a:latin typeface="Arial"/>
                <a:ea typeface="Arial"/>
                <a:cs typeface="Arial"/>
                <a:sym typeface="Arial"/>
              </a:rPr>
              <a:t>Conclusion — GPU Sweet Spot</a:t>
            </a:r>
            <a:endParaRPr b="1">
              <a:latin typeface="Arial"/>
              <a:ea typeface="Arial"/>
              <a:cs typeface="Arial"/>
              <a:sym typeface="Arial"/>
            </a:endParaRPr>
          </a:p>
          <a:p>
            <a:pPr indent="0" lvl="0" marL="0" rtl="0" algn="l">
              <a:spcBef>
                <a:spcPts val="1400"/>
              </a:spcBef>
              <a:spcAft>
                <a:spcPts val="0"/>
              </a:spcAft>
              <a:buNone/>
            </a:pPr>
            <a:r>
              <a:rPr b="1" lang="en-GB" sz="1100">
                <a:latin typeface="Arial"/>
                <a:ea typeface="Arial"/>
                <a:cs typeface="Arial"/>
                <a:sym typeface="Arial"/>
              </a:rPr>
              <a:t>Sweet Spot:</a:t>
            </a:r>
            <a:r>
              <a:rPr lang="en-GB" sz="1100">
                <a:latin typeface="Arial"/>
                <a:ea typeface="Arial"/>
                <a:cs typeface="Arial"/>
                <a:sym typeface="Arial"/>
              </a:rPr>
              <a:t> </a:t>
            </a:r>
            <a:r>
              <a:rPr b="1" lang="en-GB" sz="1100">
                <a:latin typeface="Arial"/>
                <a:ea typeface="Arial"/>
                <a:cs typeface="Arial"/>
                <a:sym typeface="Arial"/>
              </a:rPr>
              <a:t>CUDA with 2 ConvLSTM layers and 16×16 grid size</a:t>
            </a:r>
            <a:endParaRPr b="1" sz="1100">
              <a:latin typeface="Arial"/>
              <a:ea typeface="Arial"/>
              <a:cs typeface="Arial"/>
              <a:sym typeface="Arial"/>
            </a:endParaRPr>
          </a:p>
          <a:p>
            <a:pPr indent="-277495" lvl="0" marL="457200" rtl="0" algn="l">
              <a:spcBef>
                <a:spcPts val="1200"/>
              </a:spcBef>
              <a:spcAft>
                <a:spcPts val="0"/>
              </a:spcAft>
              <a:buClr>
                <a:schemeClr val="lt1"/>
              </a:buClr>
              <a:buSzPct val="100000"/>
              <a:buFont typeface="Arial"/>
              <a:buChar char="●"/>
            </a:pPr>
            <a:r>
              <a:rPr b="1" lang="en-GB" sz="1100">
                <a:latin typeface="Arial"/>
                <a:ea typeface="Arial"/>
                <a:cs typeface="Arial"/>
                <a:sym typeface="Arial"/>
              </a:rPr>
              <a:t>Accuracy:</a:t>
            </a:r>
            <a:r>
              <a:rPr lang="en-GB" sz="1100">
                <a:latin typeface="Arial"/>
                <a:ea typeface="Arial"/>
                <a:cs typeface="Arial"/>
                <a:sym typeface="Arial"/>
              </a:rPr>
              <a:t> 94.64%</a:t>
            </a:r>
            <a:br>
              <a:rPr lang="en-GB" sz="1100">
                <a:latin typeface="Arial"/>
                <a:ea typeface="Arial"/>
                <a:cs typeface="Arial"/>
                <a:sym typeface="Arial"/>
              </a:rPr>
            </a:br>
            <a:endParaRPr sz="1100">
              <a:latin typeface="Arial"/>
              <a:ea typeface="Arial"/>
              <a:cs typeface="Arial"/>
              <a:sym typeface="Arial"/>
            </a:endParaRPr>
          </a:p>
          <a:p>
            <a:pPr indent="-277495" lvl="0" marL="457200" rtl="0" algn="l">
              <a:spcBef>
                <a:spcPts val="0"/>
              </a:spcBef>
              <a:spcAft>
                <a:spcPts val="0"/>
              </a:spcAft>
              <a:buClr>
                <a:schemeClr val="lt1"/>
              </a:buClr>
              <a:buSzPct val="100000"/>
              <a:buFont typeface="Arial"/>
              <a:buChar char="●"/>
            </a:pPr>
            <a:r>
              <a:rPr b="1" lang="en-GB" sz="1100">
                <a:latin typeface="Arial"/>
                <a:ea typeface="Arial"/>
                <a:cs typeface="Arial"/>
                <a:sym typeface="Arial"/>
              </a:rPr>
              <a:t>RMSE:</a:t>
            </a:r>
            <a:r>
              <a:rPr lang="en-GB" sz="1100">
                <a:latin typeface="Arial"/>
                <a:ea typeface="Arial"/>
                <a:cs typeface="Arial"/>
                <a:sym typeface="Arial"/>
              </a:rPr>
              <a:t> 0.00268</a:t>
            </a:r>
            <a:br>
              <a:rPr lang="en-GB" sz="1100">
                <a:latin typeface="Arial"/>
                <a:ea typeface="Arial"/>
                <a:cs typeface="Arial"/>
                <a:sym typeface="Arial"/>
              </a:rPr>
            </a:br>
            <a:endParaRPr sz="1100">
              <a:latin typeface="Arial"/>
              <a:ea typeface="Arial"/>
              <a:cs typeface="Arial"/>
              <a:sym typeface="Arial"/>
            </a:endParaRPr>
          </a:p>
          <a:p>
            <a:pPr indent="-277495" lvl="0" marL="457200" rtl="0" algn="l">
              <a:spcBef>
                <a:spcPts val="0"/>
              </a:spcBef>
              <a:spcAft>
                <a:spcPts val="0"/>
              </a:spcAft>
              <a:buClr>
                <a:schemeClr val="lt1"/>
              </a:buClr>
              <a:buSzPct val="100000"/>
              <a:buFont typeface="Arial"/>
              <a:buChar char="●"/>
            </a:pPr>
            <a:r>
              <a:rPr b="1" lang="en-GB" sz="1100">
                <a:latin typeface="Arial"/>
                <a:ea typeface="Arial"/>
                <a:cs typeface="Arial"/>
                <a:sym typeface="Arial"/>
              </a:rPr>
              <a:t>Time:</a:t>
            </a:r>
            <a:r>
              <a:rPr lang="en-GB" sz="1100">
                <a:latin typeface="Arial"/>
                <a:ea typeface="Arial"/>
                <a:cs typeface="Arial"/>
                <a:sym typeface="Arial"/>
              </a:rPr>
              <a:t> 0.27 seconds</a:t>
            </a:r>
            <a:br>
              <a:rPr lang="en-GB"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None/>
            </a:pPr>
            <a:r>
              <a:rPr lang="en-GB" sz="1100">
                <a:latin typeface="Arial"/>
                <a:ea typeface="Arial"/>
                <a:cs typeface="Arial"/>
                <a:sym typeface="Arial"/>
              </a:rPr>
              <a:t>This configuration offers the </a:t>
            </a:r>
            <a:r>
              <a:rPr b="1" lang="en-GB" sz="1100">
                <a:latin typeface="Arial"/>
                <a:ea typeface="Arial"/>
                <a:cs typeface="Arial"/>
                <a:sym typeface="Arial"/>
              </a:rPr>
              <a:t>best balance</a:t>
            </a:r>
            <a:r>
              <a:rPr lang="en-GB" sz="1100">
                <a:latin typeface="Arial"/>
                <a:ea typeface="Arial"/>
                <a:cs typeface="Arial"/>
                <a:sym typeface="Arial"/>
              </a:rPr>
              <a:t> between:</a:t>
            </a:r>
            <a:endParaRPr sz="1100">
              <a:latin typeface="Arial"/>
              <a:ea typeface="Arial"/>
              <a:cs typeface="Arial"/>
              <a:sym typeface="Arial"/>
            </a:endParaRPr>
          </a:p>
          <a:p>
            <a:pPr indent="-277495" lvl="0" marL="457200" rtl="0" algn="l">
              <a:spcBef>
                <a:spcPts val="1200"/>
              </a:spcBef>
              <a:spcAft>
                <a:spcPts val="0"/>
              </a:spcAft>
              <a:buClr>
                <a:schemeClr val="lt1"/>
              </a:buClr>
              <a:buSzPct val="100000"/>
              <a:buFont typeface="Arial"/>
              <a:buChar char="●"/>
            </a:pPr>
            <a:r>
              <a:rPr lang="en-GB" sz="1100">
                <a:latin typeface="Arial"/>
                <a:ea typeface="Arial"/>
                <a:cs typeface="Arial"/>
                <a:sym typeface="Arial"/>
              </a:rPr>
              <a:t>Computational efficiency (speed),</a:t>
            </a:r>
            <a:br>
              <a:rPr lang="en-GB" sz="1100">
                <a:latin typeface="Arial"/>
                <a:ea typeface="Arial"/>
                <a:cs typeface="Arial"/>
                <a:sym typeface="Arial"/>
              </a:rPr>
            </a:br>
            <a:endParaRPr sz="1100">
              <a:latin typeface="Arial"/>
              <a:ea typeface="Arial"/>
              <a:cs typeface="Arial"/>
              <a:sym typeface="Arial"/>
            </a:endParaRPr>
          </a:p>
          <a:p>
            <a:pPr indent="-277495" lvl="0" marL="457200" rtl="0" algn="l">
              <a:spcBef>
                <a:spcPts val="0"/>
              </a:spcBef>
              <a:spcAft>
                <a:spcPts val="0"/>
              </a:spcAft>
              <a:buClr>
                <a:schemeClr val="lt1"/>
              </a:buClr>
              <a:buSzPct val="100000"/>
              <a:buFont typeface="Arial"/>
              <a:buChar char="●"/>
            </a:pPr>
            <a:r>
              <a:rPr lang="en-GB" sz="1100">
                <a:latin typeface="Arial"/>
                <a:ea typeface="Arial"/>
                <a:cs typeface="Arial"/>
                <a:sym typeface="Arial"/>
              </a:rPr>
              <a:t>Prediction accuracy, and</a:t>
            </a:r>
            <a:br>
              <a:rPr lang="en-GB" sz="1100">
                <a:latin typeface="Arial"/>
                <a:ea typeface="Arial"/>
                <a:cs typeface="Arial"/>
                <a:sym typeface="Arial"/>
              </a:rPr>
            </a:br>
            <a:endParaRPr sz="1100">
              <a:latin typeface="Arial"/>
              <a:ea typeface="Arial"/>
              <a:cs typeface="Arial"/>
              <a:sym typeface="Arial"/>
            </a:endParaRPr>
          </a:p>
          <a:p>
            <a:pPr indent="-277495" lvl="0" marL="457200" rtl="0" algn="l">
              <a:spcBef>
                <a:spcPts val="0"/>
              </a:spcBef>
              <a:spcAft>
                <a:spcPts val="0"/>
              </a:spcAft>
              <a:buClr>
                <a:schemeClr val="lt1"/>
              </a:buClr>
              <a:buSzPct val="100000"/>
              <a:buFont typeface="Arial"/>
              <a:buChar char="●"/>
            </a:pPr>
            <a:r>
              <a:rPr lang="en-GB" sz="1100">
                <a:latin typeface="Arial"/>
                <a:ea typeface="Arial"/>
                <a:cs typeface="Arial"/>
                <a:sym typeface="Arial"/>
              </a:rPr>
              <a:t>Resource utilization.</a:t>
            </a:r>
            <a:br>
              <a:rPr lang="en-GB"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67" name="Google Shape;267;p3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8" name="Google Shape;268;p36"/>
          <p:cNvPicPr preferRelativeResize="0"/>
          <p:nvPr/>
        </p:nvPicPr>
        <p:blipFill>
          <a:blip r:embed="rId3">
            <a:alphaModFix/>
          </a:blip>
          <a:stretch>
            <a:fillRect/>
          </a:stretch>
        </p:blipFill>
        <p:spPr>
          <a:xfrm>
            <a:off x="0" y="545212"/>
            <a:ext cx="9144000" cy="3818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37"/>
          <p:cNvPicPr preferRelativeResize="0"/>
          <p:nvPr/>
        </p:nvPicPr>
        <p:blipFill>
          <a:blip r:embed="rId3">
            <a:alphaModFix/>
          </a:blip>
          <a:stretch>
            <a:fillRect/>
          </a:stretch>
        </p:blipFill>
        <p:spPr>
          <a:xfrm>
            <a:off x="4919575" y="152400"/>
            <a:ext cx="4072025" cy="3197348"/>
          </a:xfrm>
          <a:prstGeom prst="rect">
            <a:avLst/>
          </a:prstGeom>
          <a:noFill/>
          <a:ln>
            <a:noFill/>
          </a:ln>
        </p:spPr>
      </p:pic>
      <p:pic>
        <p:nvPicPr>
          <p:cNvPr id="274" name="Google Shape;274;p37"/>
          <p:cNvPicPr preferRelativeResize="0"/>
          <p:nvPr/>
        </p:nvPicPr>
        <p:blipFill>
          <a:blip r:embed="rId4">
            <a:alphaModFix/>
          </a:blip>
          <a:stretch>
            <a:fillRect/>
          </a:stretch>
        </p:blipFill>
        <p:spPr>
          <a:xfrm>
            <a:off x="152400" y="152400"/>
            <a:ext cx="4614775" cy="3645352"/>
          </a:xfrm>
          <a:prstGeom prst="rect">
            <a:avLst/>
          </a:prstGeom>
          <a:noFill/>
          <a:ln>
            <a:noFill/>
          </a:ln>
        </p:spPr>
      </p:pic>
      <p:sp>
        <p:nvSpPr>
          <p:cNvPr id="275" name="Google Shape;275;p37"/>
          <p:cNvSpPr txBox="1"/>
          <p:nvPr/>
        </p:nvSpPr>
        <p:spPr>
          <a:xfrm>
            <a:off x="845250" y="4042600"/>
            <a:ext cx="7453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1F1F1F"/>
                </a:solidFill>
                <a:highlight>
                  <a:srgbClr val="FFFFFF"/>
                </a:highlight>
              </a:rPr>
              <a:t>This plot compares the final test RMSE for different grid sizes on both CPU and GPU. It helps to understand how the grid resolution impacts the model's performance on unseen data and how that performance varies between the two devices.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1" name="Google Shape;281;p38"/>
          <p:cNvPicPr preferRelativeResize="0"/>
          <p:nvPr/>
        </p:nvPicPr>
        <p:blipFill>
          <a:blip r:embed="rId3">
            <a:alphaModFix/>
          </a:blip>
          <a:stretch>
            <a:fillRect/>
          </a:stretch>
        </p:blipFill>
        <p:spPr>
          <a:xfrm>
            <a:off x="649200" y="878300"/>
            <a:ext cx="8134350" cy="3600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txBox="1"/>
          <p:nvPr>
            <p:ph type="title"/>
          </p:nvPr>
        </p:nvSpPr>
        <p:spPr>
          <a:xfrm>
            <a:off x="1297500" y="393750"/>
            <a:ext cx="6998100" cy="60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Future Enhancements</a:t>
            </a:r>
            <a:endParaRPr/>
          </a:p>
        </p:txBody>
      </p:sp>
      <p:sp>
        <p:nvSpPr>
          <p:cNvPr id="287" name="Google Shape;287;p39"/>
          <p:cNvSpPr txBox="1"/>
          <p:nvPr>
            <p:ph idx="1" type="body"/>
          </p:nvPr>
        </p:nvSpPr>
        <p:spPr>
          <a:xfrm>
            <a:off x="1259550" y="1042500"/>
            <a:ext cx="7259700" cy="41010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GB" sz="2016"/>
              <a:t>Future Scope and Extensions</a:t>
            </a:r>
            <a:endParaRPr sz="2016"/>
          </a:p>
          <a:p>
            <a:pPr indent="0" lvl="0" marL="0" rtl="0" algn="l">
              <a:spcBef>
                <a:spcPts val="1200"/>
              </a:spcBef>
              <a:spcAft>
                <a:spcPts val="0"/>
              </a:spcAft>
              <a:buNone/>
            </a:pPr>
            <a:r>
              <a:t/>
            </a:r>
            <a:endParaRPr sz="1500"/>
          </a:p>
          <a:p>
            <a:pPr indent="-309800" lvl="0" marL="457200" rtl="0" algn="l">
              <a:spcBef>
                <a:spcPts val="1200"/>
              </a:spcBef>
              <a:spcAft>
                <a:spcPts val="0"/>
              </a:spcAft>
              <a:buSzPct val="100000"/>
              <a:buFont typeface="Arial"/>
              <a:buChar char="●"/>
            </a:pPr>
            <a:r>
              <a:rPr lang="en-GB" sz="1650">
                <a:latin typeface="Arial"/>
                <a:ea typeface="Arial"/>
                <a:cs typeface="Arial"/>
                <a:sym typeface="Arial"/>
              </a:rPr>
              <a:t>The current system focuses on daily SST forecasting for a selected regional grid. Future work can expand this to cover </a:t>
            </a:r>
            <a:r>
              <a:rPr b="1" lang="en-GB" sz="1650">
                <a:latin typeface="Arial"/>
                <a:ea typeface="Arial"/>
                <a:cs typeface="Arial"/>
                <a:sym typeface="Arial"/>
              </a:rPr>
              <a:t>larger ocean basins</a:t>
            </a:r>
            <a:r>
              <a:rPr lang="en-GB" sz="1650">
                <a:latin typeface="Arial"/>
                <a:ea typeface="Arial"/>
                <a:cs typeface="Arial"/>
                <a:sym typeface="Arial"/>
              </a:rPr>
              <a:t> or even global SST prediction.</a:t>
            </a:r>
            <a:br>
              <a:rPr lang="en-GB" sz="1650">
                <a:latin typeface="Arial"/>
                <a:ea typeface="Arial"/>
                <a:cs typeface="Arial"/>
                <a:sym typeface="Arial"/>
              </a:rPr>
            </a:br>
            <a:endParaRPr sz="1650">
              <a:latin typeface="Arial"/>
              <a:ea typeface="Arial"/>
              <a:cs typeface="Arial"/>
              <a:sym typeface="Arial"/>
            </a:endParaRPr>
          </a:p>
          <a:p>
            <a:pPr indent="-309800" lvl="0" marL="457200" rtl="0" algn="l">
              <a:spcBef>
                <a:spcPts val="0"/>
              </a:spcBef>
              <a:spcAft>
                <a:spcPts val="0"/>
              </a:spcAft>
              <a:buSzPct val="100000"/>
              <a:buFont typeface="Arial"/>
              <a:buChar char="●"/>
            </a:pPr>
            <a:r>
              <a:rPr lang="en-GB" sz="1650">
                <a:latin typeface="Arial"/>
                <a:ea typeface="Arial"/>
                <a:cs typeface="Arial"/>
                <a:sym typeface="Arial"/>
              </a:rPr>
              <a:t>Additional environmental variables such as </a:t>
            </a:r>
            <a:r>
              <a:rPr b="1" lang="en-GB" sz="1650">
                <a:latin typeface="Arial"/>
                <a:ea typeface="Arial"/>
                <a:cs typeface="Arial"/>
                <a:sym typeface="Arial"/>
              </a:rPr>
              <a:t>salinity, ocean current velocity, and chlorophyll concentration</a:t>
            </a:r>
            <a:r>
              <a:rPr lang="en-GB" sz="1650">
                <a:latin typeface="Arial"/>
                <a:ea typeface="Arial"/>
                <a:cs typeface="Arial"/>
                <a:sym typeface="Arial"/>
              </a:rPr>
              <a:t> can be integrated to develop a multi-parameter forecasting system.</a:t>
            </a:r>
            <a:br>
              <a:rPr lang="en-GB" sz="1650">
                <a:latin typeface="Arial"/>
                <a:ea typeface="Arial"/>
                <a:cs typeface="Arial"/>
                <a:sym typeface="Arial"/>
              </a:rPr>
            </a:br>
            <a:endParaRPr sz="1650">
              <a:latin typeface="Arial"/>
              <a:ea typeface="Arial"/>
              <a:cs typeface="Arial"/>
              <a:sym typeface="Arial"/>
            </a:endParaRPr>
          </a:p>
          <a:p>
            <a:pPr indent="-309800" lvl="0" marL="457200" rtl="0" algn="l">
              <a:spcBef>
                <a:spcPts val="0"/>
              </a:spcBef>
              <a:spcAft>
                <a:spcPts val="0"/>
              </a:spcAft>
              <a:buSzPct val="100000"/>
              <a:buFont typeface="Arial"/>
              <a:buChar char="●"/>
            </a:pPr>
            <a:r>
              <a:rPr lang="en-GB" sz="1650">
                <a:latin typeface="Arial"/>
                <a:ea typeface="Arial"/>
                <a:cs typeface="Arial"/>
                <a:sym typeface="Arial"/>
              </a:rPr>
              <a:t>Incorporating </a:t>
            </a:r>
            <a:r>
              <a:rPr b="1" lang="en-GB" sz="1650">
                <a:latin typeface="Arial"/>
                <a:ea typeface="Arial"/>
                <a:cs typeface="Arial"/>
                <a:sym typeface="Arial"/>
              </a:rPr>
              <a:t>spatiotemporal attention mechanisms</a:t>
            </a:r>
            <a:r>
              <a:rPr lang="en-GB" sz="1650">
                <a:latin typeface="Arial"/>
                <a:ea typeface="Arial"/>
                <a:cs typeface="Arial"/>
                <a:sym typeface="Arial"/>
              </a:rPr>
              <a:t> or hybrid ConvLSTM–Transformer architectures could further improve accuracy and interpretability.</a:t>
            </a:r>
            <a:br>
              <a:rPr lang="en-GB" sz="1650">
                <a:latin typeface="Arial"/>
                <a:ea typeface="Arial"/>
                <a:cs typeface="Arial"/>
                <a:sym typeface="Arial"/>
              </a:rPr>
            </a:br>
            <a:endParaRPr sz="1650">
              <a:latin typeface="Arial"/>
              <a:ea typeface="Arial"/>
              <a:cs typeface="Arial"/>
              <a:sym typeface="Arial"/>
            </a:endParaRPr>
          </a:p>
          <a:p>
            <a:pPr indent="-309800" lvl="0" marL="457200" rtl="0" algn="l">
              <a:spcBef>
                <a:spcPts val="0"/>
              </a:spcBef>
              <a:spcAft>
                <a:spcPts val="0"/>
              </a:spcAft>
              <a:buSzPct val="100000"/>
              <a:buFont typeface="Arial"/>
              <a:buChar char="●"/>
            </a:pPr>
            <a:r>
              <a:rPr lang="en-GB" sz="1650">
                <a:latin typeface="Arial"/>
                <a:ea typeface="Arial"/>
                <a:cs typeface="Arial"/>
                <a:sym typeface="Arial"/>
              </a:rPr>
              <a:t>Model deployment on </a:t>
            </a:r>
            <a:r>
              <a:rPr b="1" lang="en-GB" sz="1650">
                <a:latin typeface="Arial"/>
                <a:ea typeface="Arial"/>
                <a:cs typeface="Arial"/>
                <a:sym typeface="Arial"/>
              </a:rPr>
              <a:t>cloud GPU servers</a:t>
            </a:r>
            <a:r>
              <a:rPr lang="en-GB" sz="1650">
                <a:latin typeface="Arial"/>
                <a:ea typeface="Arial"/>
                <a:cs typeface="Arial"/>
                <a:sym typeface="Arial"/>
              </a:rPr>
              <a:t> can enable continuous, automated updates and real-time forecasting pipelines.</a:t>
            </a:r>
            <a:endParaRPr sz="1650">
              <a:latin typeface="Arial"/>
              <a:ea typeface="Arial"/>
              <a:cs typeface="Arial"/>
              <a:sym typeface="Arial"/>
            </a:endParaRPr>
          </a:p>
          <a:p>
            <a:pPr indent="0" lvl="0" marL="457200" rtl="0" algn="l">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Future Enhancements</a:t>
            </a:r>
            <a:endParaRPr/>
          </a:p>
        </p:txBody>
      </p:sp>
      <p:sp>
        <p:nvSpPr>
          <p:cNvPr id="293" name="Google Shape;293;p40"/>
          <p:cNvSpPr txBox="1"/>
          <p:nvPr>
            <p:ph idx="1" type="body"/>
          </p:nvPr>
        </p:nvSpPr>
        <p:spPr>
          <a:xfrm>
            <a:off x="1297500" y="1042500"/>
            <a:ext cx="7153800" cy="3511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sz="1770"/>
              <a:t>Practical Implementations and Long-Term Goals</a:t>
            </a:r>
            <a:endParaRPr sz="1770"/>
          </a:p>
          <a:p>
            <a:pPr indent="0" lvl="0" marL="0" rtl="0" algn="l">
              <a:spcBef>
                <a:spcPts val="1200"/>
              </a:spcBef>
              <a:spcAft>
                <a:spcPts val="0"/>
              </a:spcAft>
              <a:buNone/>
            </a:pPr>
            <a:r>
              <a:t/>
            </a:r>
            <a:endParaRPr/>
          </a:p>
          <a:p>
            <a:pPr indent="-317658" lvl="0" marL="457200" rtl="0" algn="l">
              <a:spcBef>
                <a:spcPts val="1200"/>
              </a:spcBef>
              <a:spcAft>
                <a:spcPts val="0"/>
              </a:spcAft>
              <a:buSzPct val="100000"/>
              <a:buFont typeface="Arial"/>
              <a:buChar char="●"/>
            </a:pPr>
            <a:r>
              <a:rPr lang="en-GB" sz="1650">
                <a:latin typeface="Arial"/>
                <a:ea typeface="Arial"/>
                <a:cs typeface="Arial"/>
                <a:sym typeface="Arial"/>
              </a:rPr>
              <a:t>Build an interactive visualization dashboard to display predicted SST maps and error statistics.</a:t>
            </a:r>
            <a:br>
              <a:rPr lang="en-GB" sz="1650">
                <a:latin typeface="Arial"/>
                <a:ea typeface="Arial"/>
                <a:cs typeface="Arial"/>
                <a:sym typeface="Arial"/>
              </a:rPr>
            </a:br>
            <a:endParaRPr sz="1650">
              <a:latin typeface="Arial"/>
              <a:ea typeface="Arial"/>
              <a:cs typeface="Arial"/>
              <a:sym typeface="Arial"/>
            </a:endParaRPr>
          </a:p>
          <a:p>
            <a:pPr indent="-317658" lvl="0" marL="457200" rtl="0" algn="l">
              <a:spcBef>
                <a:spcPts val="0"/>
              </a:spcBef>
              <a:spcAft>
                <a:spcPts val="0"/>
              </a:spcAft>
              <a:buSzPct val="100000"/>
              <a:buFont typeface="Arial"/>
              <a:buChar char="●"/>
            </a:pPr>
            <a:r>
              <a:rPr lang="en-GB" sz="1650">
                <a:latin typeface="Arial"/>
                <a:ea typeface="Arial"/>
                <a:cs typeface="Arial"/>
                <a:sym typeface="Arial"/>
              </a:rPr>
              <a:t>Develop </a:t>
            </a:r>
            <a:r>
              <a:rPr b="1" lang="en-GB" sz="1650">
                <a:latin typeface="Arial"/>
                <a:ea typeface="Arial"/>
                <a:cs typeface="Arial"/>
                <a:sym typeface="Arial"/>
              </a:rPr>
              <a:t>mobile or web interfaces</a:t>
            </a:r>
            <a:r>
              <a:rPr lang="en-GB" sz="1650">
                <a:latin typeface="Arial"/>
                <a:ea typeface="Arial"/>
                <a:cs typeface="Arial"/>
                <a:sym typeface="Arial"/>
              </a:rPr>
              <a:t> for oceanographers and research teams to access forecast data easily.</a:t>
            </a:r>
            <a:br>
              <a:rPr lang="en-GB" sz="1650">
                <a:latin typeface="Arial"/>
                <a:ea typeface="Arial"/>
                <a:cs typeface="Arial"/>
                <a:sym typeface="Arial"/>
              </a:rPr>
            </a:br>
            <a:endParaRPr sz="1650">
              <a:latin typeface="Arial"/>
              <a:ea typeface="Arial"/>
              <a:cs typeface="Arial"/>
              <a:sym typeface="Arial"/>
            </a:endParaRPr>
          </a:p>
          <a:p>
            <a:pPr indent="-317658" lvl="0" marL="457200" rtl="0" algn="l">
              <a:spcBef>
                <a:spcPts val="0"/>
              </a:spcBef>
              <a:spcAft>
                <a:spcPts val="0"/>
              </a:spcAft>
              <a:buSzPct val="100000"/>
              <a:buFont typeface="Arial"/>
              <a:buChar char="●"/>
            </a:pPr>
            <a:r>
              <a:rPr lang="en-GB" sz="1650">
                <a:latin typeface="Arial"/>
                <a:ea typeface="Arial"/>
                <a:cs typeface="Arial"/>
                <a:sym typeface="Arial"/>
              </a:rPr>
              <a:t>Implement a </a:t>
            </a:r>
            <a:r>
              <a:rPr b="1" lang="en-GB" sz="1650">
                <a:latin typeface="Arial"/>
                <a:ea typeface="Arial"/>
                <a:cs typeface="Arial"/>
                <a:sym typeface="Arial"/>
              </a:rPr>
              <a:t>model retraining mechanism</a:t>
            </a:r>
            <a:r>
              <a:rPr lang="en-GB" sz="1650">
                <a:latin typeface="Arial"/>
                <a:ea typeface="Arial"/>
                <a:cs typeface="Arial"/>
                <a:sym typeface="Arial"/>
              </a:rPr>
              <a:t> for automatic updates with new Copernicus data.</a:t>
            </a:r>
            <a:br>
              <a:rPr lang="en-GB" sz="1650">
                <a:latin typeface="Arial"/>
                <a:ea typeface="Arial"/>
                <a:cs typeface="Arial"/>
                <a:sym typeface="Arial"/>
              </a:rPr>
            </a:br>
            <a:endParaRPr sz="1650">
              <a:latin typeface="Arial"/>
              <a:ea typeface="Arial"/>
              <a:cs typeface="Arial"/>
              <a:sym typeface="Arial"/>
            </a:endParaRPr>
          </a:p>
          <a:p>
            <a:pPr indent="-317658" lvl="0" marL="457200" rtl="0" algn="l">
              <a:spcBef>
                <a:spcPts val="0"/>
              </a:spcBef>
              <a:spcAft>
                <a:spcPts val="0"/>
              </a:spcAft>
              <a:buSzPct val="100000"/>
              <a:buFont typeface="Arial"/>
              <a:buChar char="●"/>
            </a:pPr>
            <a:r>
              <a:rPr lang="en-GB" sz="1650">
                <a:latin typeface="Arial"/>
                <a:ea typeface="Arial"/>
                <a:cs typeface="Arial"/>
                <a:sym typeface="Arial"/>
              </a:rPr>
              <a:t>Optimize the ConvLSTM codebase for </a:t>
            </a:r>
            <a:r>
              <a:rPr b="1" lang="en-GB" sz="1650">
                <a:latin typeface="Arial"/>
                <a:ea typeface="Arial"/>
                <a:cs typeface="Arial"/>
                <a:sym typeface="Arial"/>
              </a:rPr>
              <a:t>multi-GPU or distributed training</a:t>
            </a:r>
            <a:r>
              <a:rPr lang="en-GB" sz="1650">
                <a:latin typeface="Arial"/>
                <a:ea typeface="Arial"/>
                <a:cs typeface="Arial"/>
                <a:sym typeface="Arial"/>
              </a:rPr>
              <a:t>, allowing it to handle high-resolution global datasets.</a:t>
            </a:r>
            <a:endParaRPr sz="165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References</a:t>
            </a:r>
            <a:endParaRPr/>
          </a:p>
        </p:txBody>
      </p:sp>
      <p:sp>
        <p:nvSpPr>
          <p:cNvPr id="299" name="Google Shape;299;p4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latin typeface="Arial"/>
                <a:ea typeface="Arial"/>
                <a:cs typeface="Arial"/>
                <a:sym typeface="Arial"/>
              </a:rPr>
              <a:t>[1] B. Shi et al., </a:t>
            </a:r>
            <a:r>
              <a:rPr i="1" lang="en-GB" sz="1100">
                <a:latin typeface="Arial"/>
                <a:ea typeface="Arial"/>
                <a:cs typeface="Arial"/>
                <a:sym typeface="Arial"/>
              </a:rPr>
              <a:t>“Sea Surface Temperature Prediction Using ConvLSTM-Based Model with Deformable Attention,”</a:t>
            </a:r>
            <a:r>
              <a:rPr lang="en-GB" sz="1100">
                <a:latin typeface="Arial"/>
                <a:ea typeface="Arial"/>
                <a:cs typeface="Arial"/>
                <a:sym typeface="Arial"/>
              </a:rPr>
              <a:t> Remote Sensing, vol. 16, no. 22, 2024.</a:t>
            </a:r>
            <a:endParaRPr sz="1100">
              <a:latin typeface="Arial"/>
              <a:ea typeface="Arial"/>
              <a:cs typeface="Arial"/>
              <a:sym typeface="Arial"/>
            </a:endParaRPr>
          </a:p>
          <a:p>
            <a:pPr indent="0" lvl="0" marL="0" rtl="0" algn="l">
              <a:spcBef>
                <a:spcPts val="1200"/>
              </a:spcBef>
              <a:spcAft>
                <a:spcPts val="0"/>
              </a:spcAft>
              <a:buNone/>
            </a:pPr>
            <a:r>
              <a:rPr lang="en-GB" sz="1100">
                <a:latin typeface="Arial"/>
                <a:ea typeface="Arial"/>
                <a:cs typeface="Arial"/>
                <a:sym typeface="Arial"/>
              </a:rPr>
              <a:t>[2] M. Cao et al., </a:t>
            </a:r>
            <a:r>
              <a:rPr i="1" lang="en-GB" sz="1100">
                <a:latin typeface="Arial"/>
                <a:ea typeface="Arial"/>
                <a:cs typeface="Arial"/>
                <a:sym typeface="Arial"/>
              </a:rPr>
              <a:t>“A Novel Method for Sea Surface Temperature Prediction Using a Featural Granularity-Based ConvLSTM Model of Data-Knowledge-Driven,”</a:t>
            </a:r>
            <a:r>
              <a:rPr lang="en-GB" sz="1100">
                <a:latin typeface="Arial"/>
                <a:ea typeface="Arial"/>
                <a:cs typeface="Arial"/>
                <a:sym typeface="Arial"/>
              </a:rPr>
              <a:t> EGUsphere, 2025.</a:t>
            </a:r>
            <a:endParaRPr sz="1100">
              <a:latin typeface="Arial"/>
              <a:ea typeface="Arial"/>
              <a:cs typeface="Arial"/>
              <a:sym typeface="Arial"/>
            </a:endParaRPr>
          </a:p>
          <a:p>
            <a:pPr indent="0" lvl="0" marL="0" rtl="0" algn="l">
              <a:spcBef>
                <a:spcPts val="1200"/>
              </a:spcBef>
              <a:spcAft>
                <a:spcPts val="0"/>
              </a:spcAft>
              <a:buNone/>
            </a:pPr>
            <a:r>
              <a:rPr lang="en-GB" sz="1100">
                <a:latin typeface="Arial"/>
                <a:ea typeface="Arial"/>
                <a:cs typeface="Arial"/>
                <a:sym typeface="Arial"/>
              </a:rPr>
              <a:t>[3] A. Rawat, </a:t>
            </a:r>
            <a:r>
              <a:rPr i="1" lang="en-GB" sz="1100">
                <a:latin typeface="Arial"/>
                <a:ea typeface="Arial"/>
                <a:cs typeface="Arial"/>
                <a:sym typeface="Arial"/>
              </a:rPr>
              <a:t>“Spatio-Temporal SST Prediction Using ConvLSTM with Koopman Loss,”</a:t>
            </a:r>
            <a:r>
              <a:rPr lang="en-GB" sz="1100">
                <a:latin typeface="Arial"/>
                <a:ea typeface="Arial"/>
                <a:cs typeface="Arial"/>
                <a:sym typeface="Arial"/>
              </a:rPr>
              <a:t> GitHub Repository, 2023.</a:t>
            </a:r>
            <a:endParaRPr sz="1100">
              <a:latin typeface="Arial"/>
              <a:ea typeface="Arial"/>
              <a:cs typeface="Arial"/>
              <a:sym typeface="Arial"/>
            </a:endParaRPr>
          </a:p>
          <a:p>
            <a:pPr indent="0" lvl="0" marL="0" rtl="0" algn="l">
              <a:spcBef>
                <a:spcPts val="1200"/>
              </a:spcBef>
              <a:spcAft>
                <a:spcPts val="0"/>
              </a:spcAft>
              <a:buNone/>
            </a:pPr>
            <a:r>
              <a:rPr lang="en-GB" sz="1100">
                <a:latin typeface="Arial"/>
                <a:ea typeface="Arial"/>
                <a:cs typeface="Arial"/>
                <a:sym typeface="Arial"/>
              </a:rPr>
              <a:t>[4] C. Li et al., </a:t>
            </a:r>
            <a:r>
              <a:rPr i="1" lang="en-GB" sz="1100">
                <a:latin typeface="Arial"/>
                <a:ea typeface="Arial"/>
                <a:cs typeface="Arial"/>
                <a:sym typeface="Arial"/>
              </a:rPr>
              <a:t>“Long-Term Indian Ocean Dipole Index Prediction Using Deep Learning with ConvLSTM,”</a:t>
            </a:r>
            <a:r>
              <a:rPr lang="en-GB" sz="1100">
                <a:latin typeface="Arial"/>
                <a:ea typeface="Arial"/>
                <a:cs typeface="Arial"/>
                <a:sym typeface="Arial"/>
              </a:rPr>
              <a:t> DOAJ, 2024.</a:t>
            </a:r>
            <a:endParaRPr sz="1100">
              <a:latin typeface="Arial"/>
              <a:ea typeface="Arial"/>
              <a:cs typeface="Arial"/>
              <a:sym typeface="Arial"/>
            </a:endParaRPr>
          </a:p>
          <a:p>
            <a:pPr indent="0" lvl="0" marL="0" rtl="0" algn="l">
              <a:spcBef>
                <a:spcPts val="1200"/>
              </a:spcBef>
              <a:spcAft>
                <a:spcPts val="1200"/>
              </a:spcAft>
              <a:buNone/>
            </a:pPr>
            <a:r>
              <a:rPr lang="en-GB" sz="1100">
                <a:latin typeface="Arial"/>
                <a:ea typeface="Arial"/>
                <a:cs typeface="Arial"/>
                <a:sym typeface="Arial"/>
              </a:rPr>
              <a:t>[5] Z. Xu et al., </a:t>
            </a:r>
            <a:r>
              <a:rPr i="1" lang="en-GB" sz="1100">
                <a:latin typeface="Arial"/>
                <a:ea typeface="Arial"/>
                <a:cs typeface="Arial"/>
                <a:sym typeface="Arial"/>
              </a:rPr>
              <a:t>“A Fast AI Surrogate for Coastal Ocean Circulation Models,”</a:t>
            </a:r>
            <a:r>
              <a:rPr lang="en-GB" sz="1100">
                <a:latin typeface="Arial"/>
                <a:ea typeface="Arial"/>
                <a:cs typeface="Arial"/>
                <a:sym typeface="Arial"/>
              </a:rPr>
              <a:t> arXiv preprint, 2024.</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